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7" r:id="rId1"/>
  </p:sldMasterIdLst>
  <p:notesMasterIdLst>
    <p:notesMasterId r:id="rId19"/>
  </p:notesMasterIdLst>
  <p:sldIdLst>
    <p:sldId id="273" r:id="rId2"/>
    <p:sldId id="275" r:id="rId3"/>
    <p:sldId id="318" r:id="rId4"/>
    <p:sldId id="268" r:id="rId5"/>
    <p:sldId id="269" r:id="rId6"/>
    <p:sldId id="270" r:id="rId7"/>
    <p:sldId id="271" r:id="rId8"/>
    <p:sldId id="314" r:id="rId9"/>
    <p:sldId id="298" r:id="rId10"/>
    <p:sldId id="279" r:id="rId11"/>
    <p:sldId id="317" r:id="rId12"/>
    <p:sldId id="315" r:id="rId13"/>
    <p:sldId id="316" r:id="rId14"/>
    <p:sldId id="301" r:id="rId15"/>
    <p:sldId id="290" r:id="rId16"/>
    <p:sldId id="285" r:id="rId17"/>
    <p:sldId id="297" r:id="rId18"/>
  </p:sldIdLst>
  <p:sldSz cx="9144000" cy="5143500" type="screen16x9"/>
  <p:notesSz cx="6858000" cy="9144000"/>
  <p:embeddedFontLst>
    <p:embeddedFont>
      <p:font typeface="Assistant" pitchFamily="2" charset="-79"/>
      <p:regular r:id="rId20"/>
      <p:bold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162"/>
    <p:restoredTop sz="88533"/>
  </p:normalViewPr>
  <p:slideViewPr>
    <p:cSldViewPr snapToGrid="0">
      <p:cViewPr varScale="1">
        <p:scale>
          <a:sx n="109" d="100"/>
          <a:sy n="109" d="100"/>
        </p:scale>
        <p:origin x="200" y="18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b56d264711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b56d264711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b56d264711_0_3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b56d264711_0_3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a:extLst>
            <a:ext uri="{FF2B5EF4-FFF2-40B4-BE49-F238E27FC236}">
              <a16:creationId xmlns:a16="http://schemas.microsoft.com/office/drawing/2014/main" id="{D74FB0C1-2043-E6E9-27C7-2613F18512AF}"/>
            </a:ext>
          </a:extLst>
        </p:cNvPr>
        <p:cNvGrpSpPr/>
        <p:nvPr/>
      </p:nvGrpSpPr>
      <p:grpSpPr>
        <a:xfrm>
          <a:off x="0" y="0"/>
          <a:ext cx="0" cy="0"/>
          <a:chOff x="0" y="0"/>
          <a:chExt cx="0" cy="0"/>
        </a:xfrm>
      </p:grpSpPr>
      <p:sp>
        <p:nvSpPr>
          <p:cNvPr id="140" name="Google Shape;140;p20:notes">
            <a:extLst>
              <a:ext uri="{FF2B5EF4-FFF2-40B4-BE49-F238E27FC236}">
                <a16:creationId xmlns:a16="http://schemas.microsoft.com/office/drawing/2014/main" id="{111F1311-F4F2-A8FB-DDD9-BBB099B6FA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20:notes">
            <a:extLst>
              <a:ext uri="{FF2B5EF4-FFF2-40B4-BE49-F238E27FC236}">
                <a16:creationId xmlns:a16="http://schemas.microsoft.com/office/drawing/2014/main" id="{CAF56DEA-A828-BEB0-DD6B-0DFE027AB6C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GB" b="1" dirty="0"/>
              <a:t>Why you chose this project/idea/dataset?</a:t>
            </a:r>
          </a:p>
          <a:p>
            <a:pPr>
              <a:buFont typeface="Arial" panose="020B0604020202020204" pitchFamily="34" charset="0"/>
              <a:buChar char="•"/>
            </a:pPr>
            <a:r>
              <a:rPr lang="en-GB" dirty="0"/>
              <a:t>Churn prediction in banking is a real-world problem impacting revenue.</a:t>
            </a:r>
          </a:p>
          <a:p>
            <a:pPr>
              <a:buFont typeface="Arial" panose="020B0604020202020204" pitchFamily="34" charset="0"/>
              <a:buChar char="•"/>
            </a:pPr>
            <a:r>
              <a:rPr lang="en-GB" dirty="0"/>
              <a:t>Dataset has rich customer info: demographics, transaction history, credit limits.</a:t>
            </a:r>
          </a:p>
          <a:p>
            <a:pPr>
              <a:buFont typeface="Arial" panose="020B0604020202020204" pitchFamily="34" charset="0"/>
              <a:buChar char="•"/>
            </a:pPr>
            <a:r>
              <a:rPr lang="en-GB" dirty="0"/>
              <a:t>Combines domain knowledge from banking with practical data analysis skills.</a:t>
            </a:r>
          </a:p>
          <a:p>
            <a:pPr>
              <a:buFont typeface="Arial" panose="020B0604020202020204" pitchFamily="34" charset="0"/>
              <a:buChar char="•"/>
            </a:pPr>
            <a:r>
              <a:rPr lang="en-GB" dirty="0"/>
              <a:t>Project allows exploration of preprocessing, feature engineering, visualization, and predictive </a:t>
            </a:r>
            <a:r>
              <a:rPr lang="en-GB" dirty="0" err="1"/>
              <a:t>modeling</a:t>
            </a:r>
            <a:r>
              <a:rPr lang="en-GB" dirty="0"/>
              <a:t>.</a:t>
            </a:r>
          </a:p>
        </p:txBody>
      </p:sp>
    </p:spTree>
    <p:extLst>
      <p:ext uri="{BB962C8B-B14F-4D97-AF65-F5344CB8AC3E}">
        <p14:creationId xmlns:p14="http://schemas.microsoft.com/office/powerpoint/2010/main" val="84537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a:extLst>
            <a:ext uri="{FF2B5EF4-FFF2-40B4-BE49-F238E27FC236}">
              <a16:creationId xmlns:a16="http://schemas.microsoft.com/office/drawing/2014/main" id="{EADD7C66-9F07-7DD8-1735-79B8BEF7D5C0}"/>
            </a:ext>
          </a:extLst>
        </p:cNvPr>
        <p:cNvGrpSpPr/>
        <p:nvPr/>
      </p:nvGrpSpPr>
      <p:grpSpPr>
        <a:xfrm>
          <a:off x="0" y="0"/>
          <a:ext cx="0" cy="0"/>
          <a:chOff x="0" y="0"/>
          <a:chExt cx="0" cy="0"/>
        </a:xfrm>
      </p:grpSpPr>
      <p:sp>
        <p:nvSpPr>
          <p:cNvPr id="140" name="Google Shape;140;p20:notes">
            <a:extLst>
              <a:ext uri="{FF2B5EF4-FFF2-40B4-BE49-F238E27FC236}">
                <a16:creationId xmlns:a16="http://schemas.microsoft.com/office/drawing/2014/main" id="{4DCF9E92-824A-CB01-64C2-852C576EE4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20:notes">
            <a:extLst>
              <a:ext uri="{FF2B5EF4-FFF2-40B4-BE49-F238E27FC236}">
                <a16:creationId xmlns:a16="http://schemas.microsoft.com/office/drawing/2014/main" id="{BE25026C-F433-36FB-6A2E-29260F53DE8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GB" b="1" dirty="0"/>
              <a:t>What did you do? What was the process you followed?</a:t>
            </a:r>
          </a:p>
          <a:p>
            <a:pPr>
              <a:buFont typeface="Arial" panose="020B0604020202020204" pitchFamily="34" charset="0"/>
              <a:buChar char="•"/>
            </a:pPr>
            <a:r>
              <a:rPr lang="en-GB" dirty="0"/>
              <a:t>Cleaned and </a:t>
            </a:r>
            <a:r>
              <a:rPr lang="en-GB" dirty="0" err="1"/>
              <a:t>preprocessed</a:t>
            </a:r>
            <a:r>
              <a:rPr lang="en-GB" dirty="0"/>
              <a:t> data: handled missing values, encoded categorical features, checked for outliers.</a:t>
            </a:r>
          </a:p>
          <a:p>
            <a:pPr>
              <a:buFont typeface="Arial" panose="020B0604020202020204" pitchFamily="34" charset="0"/>
              <a:buChar char="•"/>
            </a:pPr>
            <a:r>
              <a:rPr lang="en-GB" dirty="0"/>
              <a:t>Performed EDA: descriptive statistics, visualizations (age distribution, transaction </a:t>
            </a:r>
            <a:r>
              <a:rPr lang="en-GB" dirty="0" err="1"/>
              <a:t>behavior</a:t>
            </a:r>
            <a:r>
              <a:rPr lang="en-GB" dirty="0"/>
              <a:t>, utilization, correlations).</a:t>
            </a:r>
          </a:p>
          <a:p>
            <a:pPr>
              <a:buFont typeface="Arial" panose="020B0604020202020204" pitchFamily="34" charset="0"/>
              <a:buChar char="•"/>
            </a:pPr>
            <a:r>
              <a:rPr lang="en-GB" dirty="0" err="1"/>
              <a:t>Analyzed</a:t>
            </a:r>
            <a:r>
              <a:rPr lang="en-GB" dirty="0"/>
              <a:t> patterns influencing churn and identified key predictors.</a:t>
            </a:r>
          </a:p>
          <a:p>
            <a:pPr>
              <a:buFont typeface="Arial" panose="020B0604020202020204" pitchFamily="34" charset="0"/>
              <a:buChar char="•"/>
            </a:pPr>
            <a:r>
              <a:rPr lang="en-GB" dirty="0"/>
              <a:t>Considered ethical implications and dataset limitations throughout the process.</a:t>
            </a:r>
          </a:p>
        </p:txBody>
      </p:sp>
    </p:spTree>
    <p:extLst>
      <p:ext uri="{BB962C8B-B14F-4D97-AF65-F5344CB8AC3E}">
        <p14:creationId xmlns:p14="http://schemas.microsoft.com/office/powerpoint/2010/main" val="1573615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a:extLst>
            <a:ext uri="{FF2B5EF4-FFF2-40B4-BE49-F238E27FC236}">
              <a16:creationId xmlns:a16="http://schemas.microsoft.com/office/drawing/2014/main" id="{84149DE9-41E5-4975-FA03-5B8404BD72DE}"/>
            </a:ext>
          </a:extLst>
        </p:cNvPr>
        <p:cNvGrpSpPr/>
        <p:nvPr/>
      </p:nvGrpSpPr>
      <p:grpSpPr>
        <a:xfrm>
          <a:off x="0" y="0"/>
          <a:ext cx="0" cy="0"/>
          <a:chOff x="0" y="0"/>
          <a:chExt cx="0" cy="0"/>
        </a:xfrm>
      </p:grpSpPr>
      <p:sp>
        <p:nvSpPr>
          <p:cNvPr id="140" name="Google Shape;140;p20:notes">
            <a:extLst>
              <a:ext uri="{FF2B5EF4-FFF2-40B4-BE49-F238E27FC236}">
                <a16:creationId xmlns:a16="http://schemas.microsoft.com/office/drawing/2014/main" id="{24A56994-1CB8-2B2A-C693-D9242451A1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20:notes">
            <a:extLst>
              <a:ext uri="{FF2B5EF4-FFF2-40B4-BE49-F238E27FC236}">
                <a16:creationId xmlns:a16="http://schemas.microsoft.com/office/drawing/2014/main" id="{491635AD-E89D-40E5-35D3-ABF4E79397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GB" b="1" dirty="0"/>
              <a:t>What is the result of your project? What is the impact? What are the real world implications?</a:t>
            </a:r>
          </a:p>
          <a:p>
            <a:pPr>
              <a:buFont typeface="Arial" panose="020B0604020202020204" pitchFamily="34" charset="0"/>
              <a:buChar char="•"/>
            </a:pPr>
            <a:r>
              <a:rPr lang="en-GB" dirty="0"/>
              <a:t>Found that churn correlates strongly with transaction activity and utilization ratio.</a:t>
            </a:r>
          </a:p>
          <a:p>
            <a:pPr>
              <a:buFont typeface="Arial" panose="020B0604020202020204" pitchFamily="34" charset="0"/>
              <a:buChar char="•"/>
            </a:pPr>
            <a:r>
              <a:rPr lang="en-GB" dirty="0"/>
              <a:t>Identified high-risk customers who are less active or underutilizing credit.</a:t>
            </a:r>
          </a:p>
          <a:p>
            <a:pPr>
              <a:buFont typeface="Arial" panose="020B0604020202020204" pitchFamily="34" charset="0"/>
              <a:buChar char="•"/>
            </a:pPr>
            <a:r>
              <a:rPr lang="en-GB" dirty="0"/>
              <a:t>Provides actionable insights for banks: targeted retention campaigns, personalized engagement.</a:t>
            </a:r>
          </a:p>
          <a:p>
            <a:pPr>
              <a:buFont typeface="Arial" panose="020B0604020202020204" pitchFamily="34" charset="0"/>
              <a:buChar char="•"/>
            </a:pPr>
            <a:r>
              <a:rPr lang="en-GB" dirty="0"/>
              <a:t>Highlights importance of monitoring low-activity customers to reduce revenue loss.</a:t>
            </a:r>
          </a:p>
        </p:txBody>
      </p:sp>
    </p:spTree>
    <p:extLst>
      <p:ext uri="{BB962C8B-B14F-4D97-AF65-F5344CB8AC3E}">
        <p14:creationId xmlns:p14="http://schemas.microsoft.com/office/powerpoint/2010/main" val="3611659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a:extLst>
            <a:ext uri="{FF2B5EF4-FFF2-40B4-BE49-F238E27FC236}">
              <a16:creationId xmlns:a16="http://schemas.microsoft.com/office/drawing/2014/main" id="{7BE3BC4A-7F14-2645-55D4-3ABD57591EE6}"/>
            </a:ext>
          </a:extLst>
        </p:cNvPr>
        <p:cNvGrpSpPr/>
        <p:nvPr/>
      </p:nvGrpSpPr>
      <p:grpSpPr>
        <a:xfrm>
          <a:off x="0" y="0"/>
          <a:ext cx="0" cy="0"/>
          <a:chOff x="0" y="0"/>
          <a:chExt cx="0" cy="0"/>
        </a:xfrm>
      </p:grpSpPr>
      <p:sp>
        <p:nvSpPr>
          <p:cNvPr id="140" name="Google Shape;140;p20:notes">
            <a:extLst>
              <a:ext uri="{FF2B5EF4-FFF2-40B4-BE49-F238E27FC236}">
                <a16:creationId xmlns:a16="http://schemas.microsoft.com/office/drawing/2014/main" id="{5FD55A7A-BEC3-17B3-195F-D9C690E268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20:notes">
            <a:extLst>
              <a:ext uri="{FF2B5EF4-FFF2-40B4-BE49-F238E27FC236}">
                <a16:creationId xmlns:a16="http://schemas.microsoft.com/office/drawing/2014/main" id="{5AC5B900-DA6F-9A78-F01C-5A65359AC81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GB" b="1" dirty="0"/>
              <a:t>Did you face any difficulties or roadblock? How did you overcome them?</a:t>
            </a:r>
          </a:p>
          <a:p>
            <a:pPr>
              <a:buFont typeface="Arial" panose="020B0604020202020204" pitchFamily="34" charset="0"/>
              <a:buChar char="•"/>
            </a:pPr>
            <a:r>
              <a:rPr lang="en-GB" dirty="0"/>
              <a:t>Dataset was mostly clean → needed to justify preprocessing steps carefully.</a:t>
            </a:r>
          </a:p>
          <a:p>
            <a:pPr>
              <a:buFont typeface="Arial" panose="020B0604020202020204" pitchFamily="34" charset="0"/>
              <a:buChar char="•"/>
            </a:pPr>
            <a:r>
              <a:rPr lang="en-GB" dirty="0"/>
              <a:t>Categorical features had potential order ambiguity → resolved using ordinal encoding for </a:t>
            </a:r>
            <a:r>
              <a:rPr lang="en-GB" dirty="0" err="1"/>
              <a:t>Education_Level</a:t>
            </a:r>
            <a:r>
              <a:rPr lang="en-GB" dirty="0"/>
              <a:t> and </a:t>
            </a:r>
            <a:r>
              <a:rPr lang="en-GB" dirty="0" err="1"/>
              <a:t>Income_Category</a:t>
            </a:r>
            <a:r>
              <a:rPr lang="en-GB" dirty="0"/>
              <a:t>.</a:t>
            </a:r>
          </a:p>
          <a:p>
            <a:pPr>
              <a:buFont typeface="Arial" panose="020B0604020202020204" pitchFamily="34" charset="0"/>
              <a:buChar char="•"/>
            </a:pPr>
            <a:r>
              <a:rPr lang="en-GB" dirty="0"/>
              <a:t>Class imbalance (~16% churn) → noted in limitations, suggested stratified sampling and evaluation metrics like ROC-AUC.</a:t>
            </a:r>
          </a:p>
          <a:p>
            <a:pPr>
              <a:buFont typeface="Arial" panose="020B0604020202020204" pitchFamily="34" charset="0"/>
              <a:buChar char="•"/>
            </a:pPr>
            <a:r>
              <a:rPr lang="en-GB" dirty="0"/>
              <a:t>Addressed each challenge with methodical, well-documented steps.</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4297450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a:extLst>
            <a:ext uri="{FF2B5EF4-FFF2-40B4-BE49-F238E27FC236}">
              <a16:creationId xmlns:a16="http://schemas.microsoft.com/office/drawing/2014/main" id="{0B20A677-F0D1-A9DD-DC56-C62D3717686F}"/>
            </a:ext>
          </a:extLst>
        </p:cNvPr>
        <p:cNvGrpSpPr/>
        <p:nvPr/>
      </p:nvGrpSpPr>
      <p:grpSpPr>
        <a:xfrm>
          <a:off x="0" y="0"/>
          <a:ext cx="0" cy="0"/>
          <a:chOff x="0" y="0"/>
          <a:chExt cx="0" cy="0"/>
        </a:xfrm>
      </p:grpSpPr>
      <p:sp>
        <p:nvSpPr>
          <p:cNvPr id="140" name="Google Shape;140;p20:notes">
            <a:extLst>
              <a:ext uri="{FF2B5EF4-FFF2-40B4-BE49-F238E27FC236}">
                <a16:creationId xmlns:a16="http://schemas.microsoft.com/office/drawing/2014/main" id="{09E304E5-F5D2-CDE7-1009-33E6C568A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20:notes">
            <a:extLst>
              <a:ext uri="{FF2B5EF4-FFF2-40B4-BE49-F238E27FC236}">
                <a16:creationId xmlns:a16="http://schemas.microsoft.com/office/drawing/2014/main" id="{4BB35EF6-4234-E2EA-46ED-01C589913FF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GB" b="1" dirty="0"/>
              <a:t>Conclusions: What are some future improvements? How could the project be used?</a:t>
            </a:r>
          </a:p>
          <a:p>
            <a:pPr>
              <a:buFont typeface="Arial" panose="020B0604020202020204" pitchFamily="34" charset="0"/>
              <a:buChar char="•"/>
            </a:pPr>
            <a:r>
              <a:rPr lang="en-GB" dirty="0"/>
              <a:t>Include additional features: transaction trends over time, external </a:t>
            </a:r>
            <a:r>
              <a:rPr lang="en-GB" dirty="0" err="1"/>
              <a:t>behavioral</a:t>
            </a:r>
            <a:r>
              <a:rPr lang="en-GB" dirty="0"/>
              <a:t> data, communication history.</a:t>
            </a:r>
          </a:p>
          <a:p>
            <a:pPr>
              <a:buFont typeface="Arial" panose="020B0604020202020204" pitchFamily="34" charset="0"/>
              <a:buChar char="•"/>
            </a:pPr>
            <a:r>
              <a:rPr lang="en-GB" dirty="0"/>
              <a:t>Experiment with advanced predictive models (</a:t>
            </a:r>
            <a:r>
              <a:rPr lang="en-GB" dirty="0" err="1"/>
              <a:t>RandomForest</a:t>
            </a:r>
            <a:r>
              <a:rPr lang="en-GB" dirty="0"/>
              <a:t>, </a:t>
            </a:r>
            <a:r>
              <a:rPr lang="en-GB" dirty="0" err="1"/>
              <a:t>XGBoost</a:t>
            </a:r>
            <a:r>
              <a:rPr lang="en-GB" dirty="0"/>
              <a:t>) and handle class imbalance.</a:t>
            </a:r>
          </a:p>
          <a:p>
            <a:pPr>
              <a:buFont typeface="Arial" panose="020B0604020202020204" pitchFamily="34" charset="0"/>
              <a:buChar char="•"/>
            </a:pPr>
            <a:r>
              <a:rPr lang="en-GB" dirty="0"/>
              <a:t>Integrate model in banking dashboards for real-time churn risk monitoring.</a:t>
            </a:r>
          </a:p>
          <a:p>
            <a:pPr>
              <a:buFont typeface="Arial" panose="020B0604020202020204" pitchFamily="34" charset="0"/>
              <a:buChar char="•"/>
            </a:pPr>
            <a:r>
              <a:rPr lang="en-GB" dirty="0"/>
              <a:t>Apply fairness and privacy-aware techniques for ethical, responsible deployment.</a:t>
            </a:r>
          </a:p>
        </p:txBody>
      </p:sp>
    </p:spTree>
    <p:extLst>
      <p:ext uri="{BB962C8B-B14F-4D97-AF65-F5344CB8AC3E}">
        <p14:creationId xmlns:p14="http://schemas.microsoft.com/office/powerpoint/2010/main" val="13919708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b56d26471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b56d26471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342900">
              <a:buFont typeface="+mj-lt"/>
              <a:buAutoNum type="arabicPeriod"/>
            </a:pPr>
            <a:r>
              <a:rPr lang="en-GB" sz="1800" b="1" dirty="0">
                <a:solidFill>
                  <a:srgbClr val="0A0A29"/>
                </a:solidFill>
                <a:effectLst/>
                <a:latin typeface="Arial" panose="020B0604020202020204" pitchFamily="34" charset="0"/>
                <a:ea typeface="Times New Roman" panose="02020603050405020304" pitchFamily="18" charset="0"/>
              </a:rPr>
              <a:t>Loss of customer requests</a:t>
            </a:r>
            <a:r>
              <a:rPr lang="en-GB" sz="1800" b="0" dirty="0">
                <a:solidFill>
                  <a:srgbClr val="0A0A29"/>
                </a:solidFill>
                <a:effectLst/>
                <a:latin typeface="Arial" panose="020B0604020202020204" pitchFamily="34" charset="0"/>
                <a:ea typeface="Times New Roman" panose="02020603050405020304" pitchFamily="18" charset="0"/>
              </a:rPr>
              <a:t>. The main tool for working with clients in many companies is Excel and Google spreadsheets. Employees manually transfer requests there from different sources. What if there are several sources of requests? We need to somehow keep track of everyone.</a:t>
            </a:r>
          </a:p>
          <a:p>
            <a:pPr marL="342900" lvl="0" indent="-342900">
              <a:buFont typeface="+mj-lt"/>
              <a:buAutoNum type="arabicPeriod"/>
            </a:pPr>
            <a:r>
              <a:rPr lang="en-GB" sz="1800" b="1" dirty="0">
                <a:solidFill>
                  <a:srgbClr val="0A0A29"/>
                </a:solidFill>
                <a:effectLst/>
                <a:latin typeface="Arial" panose="020B0604020202020204" pitchFamily="34" charset="0"/>
                <a:ea typeface="Times New Roman" panose="02020603050405020304" pitchFamily="18" charset="0"/>
              </a:rPr>
              <a:t>Loss of customer information</a:t>
            </a:r>
            <a:r>
              <a:rPr lang="en-GB" sz="1800" b="0" dirty="0">
                <a:solidFill>
                  <a:srgbClr val="0A0A29"/>
                </a:solidFill>
                <a:effectLst/>
                <a:latin typeface="Arial" panose="020B0604020202020204" pitchFamily="34" charset="0"/>
                <a:ea typeface="Times New Roman" panose="02020603050405020304" pitchFamily="18" charset="0"/>
              </a:rPr>
              <a:t>. When the client base is maintained in diaries and Excel spreadsheets, it is almost impossible to find information about a client who contacted a couple of months ago or six months ago. </a:t>
            </a:r>
            <a:endParaRPr lang="uk-UA" sz="1800" b="0" dirty="0">
              <a:solidFill>
                <a:srgbClr val="0A0A29"/>
              </a:solidFill>
              <a:effectLst/>
              <a:latin typeface="Arial" panose="020B0604020202020204" pitchFamily="34" charset="0"/>
              <a:ea typeface="Times New Roman" panose="02020603050405020304" pitchFamily="18" charset="0"/>
            </a:endParaRPr>
          </a:p>
          <a:p>
            <a:pPr marL="342900" lvl="0" indent="-342900">
              <a:buFont typeface="+mj-lt"/>
              <a:buAutoNum type="arabicPeriod"/>
            </a:pPr>
            <a:r>
              <a:rPr lang="en-GB" sz="1800" b="1" dirty="0">
                <a:solidFill>
                  <a:srgbClr val="0A0A29"/>
                </a:solidFill>
                <a:effectLst/>
                <a:latin typeface="Arial" panose="020B0604020202020204" pitchFamily="34" charset="0"/>
                <a:ea typeface="Times New Roman" panose="02020603050405020304" pitchFamily="18" charset="0"/>
              </a:rPr>
              <a:t>There is no transparency in the work of the sales department</a:t>
            </a:r>
            <a:r>
              <a:rPr lang="en-GB" sz="1800" b="0" dirty="0">
                <a:solidFill>
                  <a:srgbClr val="0A0A29"/>
                </a:solidFill>
                <a:effectLst/>
                <a:latin typeface="Arial" panose="020B0604020202020204" pitchFamily="34" charset="0"/>
                <a:ea typeface="Times New Roman" panose="02020603050405020304" pitchFamily="18" charset="0"/>
              </a:rPr>
              <a:t>. It is not clear how many contacts the manager found, how many deals he concluded, how many meetings he held. There is no control over employees.</a:t>
            </a:r>
            <a:endParaRPr lang="en-GB" sz="1100" b="0" dirty="0">
              <a:solidFill>
                <a:srgbClr val="0A0A29"/>
              </a:solidFill>
              <a:effectLst/>
              <a:latin typeface="Arial" panose="020B0604020202020204" pitchFamily="34" charset="0"/>
              <a:ea typeface="Times New Roman" panose="02020603050405020304" pitchFamily="18" charset="0"/>
            </a:endParaRPr>
          </a:p>
          <a:p>
            <a:pPr marL="342900" lvl="0" indent="-342900">
              <a:buFont typeface="+mj-lt"/>
              <a:buAutoNum type="arabicPeriod"/>
            </a:pPr>
            <a:r>
              <a:rPr lang="en-GB" sz="1100" b="1" dirty="0">
                <a:solidFill>
                  <a:srgbClr val="0A0A29"/>
                </a:solidFill>
                <a:effectLst/>
                <a:latin typeface="Arial" panose="020B0604020202020204" pitchFamily="34" charset="0"/>
                <a:ea typeface="Times New Roman" panose="02020603050405020304" pitchFamily="18" charset="0"/>
              </a:rPr>
              <a:t>Lack of time due to routine tasks</a:t>
            </a:r>
            <a:r>
              <a:rPr lang="en-GB" sz="1100" b="0" dirty="0">
                <a:solidFill>
                  <a:srgbClr val="0A0A29"/>
                </a:solidFill>
                <a:effectLst/>
                <a:latin typeface="Arial" panose="020B0604020202020204" pitchFamily="34" charset="0"/>
                <a:ea typeface="Times New Roman" panose="02020603050405020304" pitchFamily="18" charset="0"/>
              </a:rPr>
              <a:t>. Managers spend a lot of time manually filling out paperwork and remembering to mail it to clients, instead of focusing on sales. Managers, who must constantly keep everything under control, also suffer from routine tasks.</a:t>
            </a:r>
          </a:p>
          <a:p>
            <a:pPr marL="342900" lvl="0" indent="-342900">
              <a:buFont typeface="+mj-lt"/>
              <a:buAutoNum type="arabicPeriod"/>
            </a:pPr>
            <a:endParaRPr b="0" dirty="0"/>
          </a:p>
        </p:txBody>
      </p:sp>
    </p:spTree>
    <p:extLst>
      <p:ext uri="{BB962C8B-B14F-4D97-AF65-F5344CB8AC3E}">
        <p14:creationId xmlns:p14="http://schemas.microsoft.com/office/powerpoint/2010/main" val="24284770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b56d264711_0_3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b56d264711_0_3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59052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56d264711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56d264711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dirty="0"/>
              <a:t>A customer relationship management system (CRM, CRM system, short for Customer Relationship Management) is application software for organizations designed to automate strategies for interacting with customers (clients), in particular, to increase sales, optimize marketing and improve servicing clients by storing information about clients and the history of relationships with them, establishing and improving business processes and subsequent analysis of the results.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56d264711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56d264711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41397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56d264711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56d264711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353384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56d264711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56d264711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dirty="0"/>
              <a:t>Check credentials  before entering the system</a:t>
            </a:r>
          </a:p>
        </p:txBody>
      </p:sp>
    </p:spTree>
    <p:extLst>
      <p:ext uri="{BB962C8B-B14F-4D97-AF65-F5344CB8AC3E}">
        <p14:creationId xmlns:p14="http://schemas.microsoft.com/office/powerpoint/2010/main" val="18689619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b56d264711_0_3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b56d264711_0_3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45068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b56d26471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b56d264711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af83f1124d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af83f1124d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b647448be2_1_4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b647448be2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2">
  <p:cSld name="TITLE_1">
    <p:spTree>
      <p:nvGrpSpPr>
        <p:cNvPr id="1" name="Shape 27"/>
        <p:cNvGrpSpPr/>
        <p:nvPr/>
      </p:nvGrpSpPr>
      <p:grpSpPr>
        <a:xfrm>
          <a:off x="0" y="0"/>
          <a:ext cx="0" cy="0"/>
          <a:chOff x="0" y="0"/>
          <a:chExt cx="0" cy="0"/>
        </a:xfrm>
      </p:grpSpPr>
      <p:sp>
        <p:nvSpPr>
          <p:cNvPr id="28" name="Google Shape;28;p3"/>
          <p:cNvSpPr txBox="1">
            <a:spLocks noGrp="1"/>
          </p:cNvSpPr>
          <p:nvPr>
            <p:ph type="ctrTitle"/>
          </p:nvPr>
        </p:nvSpPr>
        <p:spPr>
          <a:xfrm>
            <a:off x="311725" y="1243584"/>
            <a:ext cx="6089100" cy="1776300"/>
          </a:xfrm>
          <a:prstGeom prst="rect">
            <a:avLst/>
          </a:prstGeom>
        </p:spPr>
        <p:txBody>
          <a:bodyPr spcFirstLastPara="1" wrap="square" lIns="91425" tIns="91425" rIns="91425" bIns="91425" anchor="b" anchorCtr="0">
            <a:normAutofit/>
          </a:bodyPr>
          <a:lstStyle>
            <a:lvl1pPr lvl="0" rtl="0">
              <a:lnSpc>
                <a:spcPct val="100000"/>
              </a:lnSpc>
              <a:spcBef>
                <a:spcPts val="0"/>
              </a:spcBef>
              <a:spcAft>
                <a:spcPts val="0"/>
              </a:spcAft>
              <a:buClr>
                <a:schemeClr val="accent1"/>
              </a:buClr>
              <a:buSzPts val="5200"/>
              <a:buNone/>
              <a:defRPr sz="5200">
                <a:solidFill>
                  <a:schemeClr val="accent1"/>
                </a:solidFill>
              </a:defRPr>
            </a:lvl1pPr>
            <a:lvl2pPr lvl="1" rtl="0">
              <a:lnSpc>
                <a:spcPct val="100000"/>
              </a:lnSpc>
              <a:spcBef>
                <a:spcPts val="0"/>
              </a:spcBef>
              <a:spcAft>
                <a:spcPts val="0"/>
              </a:spcAft>
              <a:buClr>
                <a:schemeClr val="accent1"/>
              </a:buClr>
              <a:buSzPts val="5200"/>
              <a:buNone/>
              <a:defRPr sz="5200">
                <a:solidFill>
                  <a:schemeClr val="accent1"/>
                </a:solidFill>
              </a:defRPr>
            </a:lvl2pPr>
            <a:lvl3pPr lvl="2" rtl="0">
              <a:lnSpc>
                <a:spcPct val="100000"/>
              </a:lnSpc>
              <a:spcBef>
                <a:spcPts val="0"/>
              </a:spcBef>
              <a:spcAft>
                <a:spcPts val="0"/>
              </a:spcAft>
              <a:buClr>
                <a:schemeClr val="accent1"/>
              </a:buClr>
              <a:buSzPts val="5200"/>
              <a:buNone/>
              <a:defRPr sz="5200">
                <a:solidFill>
                  <a:schemeClr val="accent1"/>
                </a:solidFill>
              </a:defRPr>
            </a:lvl3pPr>
            <a:lvl4pPr lvl="3" rtl="0">
              <a:lnSpc>
                <a:spcPct val="100000"/>
              </a:lnSpc>
              <a:spcBef>
                <a:spcPts val="0"/>
              </a:spcBef>
              <a:spcAft>
                <a:spcPts val="0"/>
              </a:spcAft>
              <a:buClr>
                <a:schemeClr val="accent1"/>
              </a:buClr>
              <a:buSzPts val="5200"/>
              <a:buNone/>
              <a:defRPr sz="5200">
                <a:solidFill>
                  <a:schemeClr val="accent1"/>
                </a:solidFill>
              </a:defRPr>
            </a:lvl4pPr>
            <a:lvl5pPr lvl="4" rtl="0">
              <a:lnSpc>
                <a:spcPct val="100000"/>
              </a:lnSpc>
              <a:spcBef>
                <a:spcPts val="0"/>
              </a:spcBef>
              <a:spcAft>
                <a:spcPts val="0"/>
              </a:spcAft>
              <a:buClr>
                <a:schemeClr val="accent1"/>
              </a:buClr>
              <a:buSzPts val="5200"/>
              <a:buNone/>
              <a:defRPr sz="5200">
                <a:solidFill>
                  <a:schemeClr val="accent1"/>
                </a:solidFill>
              </a:defRPr>
            </a:lvl5pPr>
            <a:lvl6pPr lvl="5" rtl="0">
              <a:lnSpc>
                <a:spcPct val="100000"/>
              </a:lnSpc>
              <a:spcBef>
                <a:spcPts val="0"/>
              </a:spcBef>
              <a:spcAft>
                <a:spcPts val="0"/>
              </a:spcAft>
              <a:buClr>
                <a:schemeClr val="accent1"/>
              </a:buClr>
              <a:buSzPts val="5200"/>
              <a:buNone/>
              <a:defRPr sz="5200">
                <a:solidFill>
                  <a:schemeClr val="accent1"/>
                </a:solidFill>
              </a:defRPr>
            </a:lvl6pPr>
            <a:lvl7pPr lvl="6" rtl="0">
              <a:lnSpc>
                <a:spcPct val="100000"/>
              </a:lnSpc>
              <a:spcBef>
                <a:spcPts val="0"/>
              </a:spcBef>
              <a:spcAft>
                <a:spcPts val="0"/>
              </a:spcAft>
              <a:buClr>
                <a:schemeClr val="accent1"/>
              </a:buClr>
              <a:buSzPts val="5200"/>
              <a:buNone/>
              <a:defRPr sz="5200">
                <a:solidFill>
                  <a:schemeClr val="accent1"/>
                </a:solidFill>
              </a:defRPr>
            </a:lvl7pPr>
            <a:lvl8pPr lvl="7" rtl="0">
              <a:lnSpc>
                <a:spcPct val="100000"/>
              </a:lnSpc>
              <a:spcBef>
                <a:spcPts val="0"/>
              </a:spcBef>
              <a:spcAft>
                <a:spcPts val="0"/>
              </a:spcAft>
              <a:buClr>
                <a:schemeClr val="accent1"/>
              </a:buClr>
              <a:buSzPts val="5200"/>
              <a:buNone/>
              <a:defRPr sz="5200">
                <a:solidFill>
                  <a:schemeClr val="accent1"/>
                </a:solidFill>
              </a:defRPr>
            </a:lvl8pPr>
            <a:lvl9pPr lvl="8" rtl="0">
              <a:lnSpc>
                <a:spcPct val="100000"/>
              </a:lnSpc>
              <a:spcBef>
                <a:spcPts val="0"/>
              </a:spcBef>
              <a:spcAft>
                <a:spcPts val="0"/>
              </a:spcAft>
              <a:buClr>
                <a:schemeClr val="accent1"/>
              </a:buClr>
              <a:buSzPts val="5200"/>
              <a:buNone/>
              <a:defRPr sz="5200">
                <a:solidFill>
                  <a:schemeClr val="accent1"/>
                </a:solidFill>
              </a:defRPr>
            </a:lvl9pPr>
          </a:lstStyle>
          <a:p>
            <a:endParaRPr/>
          </a:p>
        </p:txBody>
      </p:sp>
      <p:sp>
        <p:nvSpPr>
          <p:cNvPr id="29" name="Google Shape;29;p3"/>
          <p:cNvSpPr txBox="1">
            <a:spLocks noGrp="1"/>
          </p:cNvSpPr>
          <p:nvPr>
            <p:ph type="subTitle" idx="1"/>
          </p:nvPr>
        </p:nvSpPr>
        <p:spPr>
          <a:xfrm>
            <a:off x="311725" y="3019874"/>
            <a:ext cx="60891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accent1"/>
              </a:buClr>
              <a:buSzPts val="2800"/>
              <a:buNone/>
              <a:defRPr sz="2800">
                <a:solidFill>
                  <a:schemeClr val="accent1"/>
                </a:solidFill>
              </a:defRPr>
            </a:lvl1pPr>
            <a:lvl2pPr lvl="1" algn="ctr" rtl="0">
              <a:lnSpc>
                <a:spcPct val="100000"/>
              </a:lnSpc>
              <a:spcBef>
                <a:spcPts val="0"/>
              </a:spcBef>
              <a:spcAft>
                <a:spcPts val="0"/>
              </a:spcAft>
              <a:buClr>
                <a:schemeClr val="accent1"/>
              </a:buClr>
              <a:buSzPts val="2800"/>
              <a:buNone/>
              <a:defRPr sz="2800">
                <a:solidFill>
                  <a:schemeClr val="accent1"/>
                </a:solidFill>
              </a:defRPr>
            </a:lvl2pPr>
            <a:lvl3pPr lvl="2" algn="ctr" rtl="0">
              <a:lnSpc>
                <a:spcPct val="100000"/>
              </a:lnSpc>
              <a:spcBef>
                <a:spcPts val="0"/>
              </a:spcBef>
              <a:spcAft>
                <a:spcPts val="0"/>
              </a:spcAft>
              <a:buClr>
                <a:schemeClr val="accent1"/>
              </a:buClr>
              <a:buSzPts val="2800"/>
              <a:buNone/>
              <a:defRPr sz="2800">
                <a:solidFill>
                  <a:schemeClr val="accent1"/>
                </a:solidFill>
              </a:defRPr>
            </a:lvl3pPr>
            <a:lvl4pPr lvl="3" algn="ctr" rtl="0">
              <a:lnSpc>
                <a:spcPct val="100000"/>
              </a:lnSpc>
              <a:spcBef>
                <a:spcPts val="0"/>
              </a:spcBef>
              <a:spcAft>
                <a:spcPts val="0"/>
              </a:spcAft>
              <a:buClr>
                <a:schemeClr val="accent1"/>
              </a:buClr>
              <a:buSzPts val="2800"/>
              <a:buNone/>
              <a:defRPr sz="2800">
                <a:solidFill>
                  <a:schemeClr val="accent1"/>
                </a:solidFill>
              </a:defRPr>
            </a:lvl4pPr>
            <a:lvl5pPr lvl="4" algn="ctr" rtl="0">
              <a:lnSpc>
                <a:spcPct val="100000"/>
              </a:lnSpc>
              <a:spcBef>
                <a:spcPts val="0"/>
              </a:spcBef>
              <a:spcAft>
                <a:spcPts val="0"/>
              </a:spcAft>
              <a:buClr>
                <a:schemeClr val="accent1"/>
              </a:buClr>
              <a:buSzPts val="2800"/>
              <a:buNone/>
              <a:defRPr sz="2800">
                <a:solidFill>
                  <a:schemeClr val="accent1"/>
                </a:solidFill>
              </a:defRPr>
            </a:lvl5pPr>
            <a:lvl6pPr lvl="5" algn="ctr" rtl="0">
              <a:lnSpc>
                <a:spcPct val="100000"/>
              </a:lnSpc>
              <a:spcBef>
                <a:spcPts val="0"/>
              </a:spcBef>
              <a:spcAft>
                <a:spcPts val="0"/>
              </a:spcAft>
              <a:buClr>
                <a:schemeClr val="accent1"/>
              </a:buClr>
              <a:buSzPts val="2800"/>
              <a:buNone/>
              <a:defRPr sz="2800">
                <a:solidFill>
                  <a:schemeClr val="accent1"/>
                </a:solidFill>
              </a:defRPr>
            </a:lvl6pPr>
            <a:lvl7pPr lvl="6" algn="ctr" rtl="0">
              <a:lnSpc>
                <a:spcPct val="100000"/>
              </a:lnSpc>
              <a:spcBef>
                <a:spcPts val="0"/>
              </a:spcBef>
              <a:spcAft>
                <a:spcPts val="0"/>
              </a:spcAft>
              <a:buClr>
                <a:schemeClr val="accent1"/>
              </a:buClr>
              <a:buSzPts val="2800"/>
              <a:buNone/>
              <a:defRPr sz="2800">
                <a:solidFill>
                  <a:schemeClr val="accent1"/>
                </a:solidFill>
              </a:defRPr>
            </a:lvl7pPr>
            <a:lvl8pPr lvl="7" algn="ctr" rtl="0">
              <a:lnSpc>
                <a:spcPct val="100000"/>
              </a:lnSpc>
              <a:spcBef>
                <a:spcPts val="0"/>
              </a:spcBef>
              <a:spcAft>
                <a:spcPts val="0"/>
              </a:spcAft>
              <a:buClr>
                <a:schemeClr val="accent1"/>
              </a:buClr>
              <a:buSzPts val="2800"/>
              <a:buNone/>
              <a:defRPr sz="2800">
                <a:solidFill>
                  <a:schemeClr val="accent1"/>
                </a:solidFill>
              </a:defRPr>
            </a:lvl8pPr>
            <a:lvl9pPr lvl="8" algn="ctr" rtl="0">
              <a:lnSpc>
                <a:spcPct val="100000"/>
              </a:lnSpc>
              <a:spcBef>
                <a:spcPts val="0"/>
              </a:spcBef>
              <a:spcAft>
                <a:spcPts val="0"/>
              </a:spcAft>
              <a:buClr>
                <a:schemeClr val="accent1"/>
              </a:buClr>
              <a:buSzPts val="2800"/>
              <a:buNone/>
              <a:defRPr sz="2800">
                <a:solidFill>
                  <a:schemeClr val="accent1"/>
                </a:solidFill>
              </a:defRPr>
            </a:lvl9pPr>
          </a:lstStyle>
          <a:p>
            <a:endParaRPr/>
          </a:p>
        </p:txBody>
      </p:sp>
      <p:sp>
        <p:nvSpPr>
          <p:cNvPr id="30" name="Google Shape;30;p3"/>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1" name="Google Shape;31;p3"/>
          <p:cNvSpPr/>
          <p:nvPr/>
        </p:nvSpPr>
        <p:spPr>
          <a:xfrm>
            <a:off x="0" y="1243584"/>
            <a:ext cx="128100" cy="2568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6400750" y="2400375"/>
            <a:ext cx="2743242" cy="2743120"/>
          </a:xfrm>
          <a:custGeom>
            <a:avLst/>
            <a:gdLst/>
            <a:ahLst/>
            <a:cxnLst/>
            <a:rect l="l" t="t" r="r" b="b"/>
            <a:pathLst>
              <a:path w="73158" h="73145" extrusionOk="0">
                <a:moveTo>
                  <a:pt x="73158" y="73107"/>
                </a:moveTo>
                <a:lnTo>
                  <a:pt x="73158" y="0"/>
                </a:lnTo>
                <a:lnTo>
                  <a:pt x="0" y="73145"/>
                </a:lnTo>
                <a:close/>
              </a:path>
            </a:pathLst>
          </a:custGeom>
          <a:solidFill>
            <a:schemeClr val="accent1"/>
          </a:solidFill>
          <a:ln>
            <a:noFill/>
          </a:ln>
        </p:spPr>
      </p:sp>
      <p:sp>
        <p:nvSpPr>
          <p:cNvPr id="33" name="Google Shape;33;p3"/>
          <p:cNvSpPr txBox="1"/>
          <p:nvPr/>
        </p:nvSpPr>
        <p:spPr>
          <a:xfrm rot="-2700000">
            <a:off x="6647467" y="3651017"/>
            <a:ext cx="2757716" cy="554513"/>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65"/>
              <a:buNone/>
            </a:pPr>
            <a:r>
              <a:rPr lang="en" sz="1000" b="1">
                <a:solidFill>
                  <a:schemeClr val="lt1"/>
                </a:solidFill>
                <a:latin typeface="Assistant"/>
                <a:ea typeface="Assistant"/>
                <a:cs typeface="Assistant"/>
                <a:sym typeface="Assistant"/>
              </a:rPr>
              <a:t>We use tech to connect human potential and opportunity with dignity &amp; humility   </a:t>
            </a:r>
            <a:endParaRPr sz="1000" b="1">
              <a:solidFill>
                <a:schemeClr val="lt1"/>
              </a:solidFill>
              <a:latin typeface="Assistant"/>
              <a:ea typeface="Assistant"/>
              <a:cs typeface="Assistant"/>
              <a:sym typeface="Assistant"/>
            </a:endParaRPr>
          </a:p>
        </p:txBody>
      </p:sp>
      <p:sp>
        <p:nvSpPr>
          <p:cNvPr id="34" name="Google Shape;34;p3"/>
          <p:cNvSpPr/>
          <p:nvPr/>
        </p:nvSpPr>
        <p:spPr>
          <a:xfrm>
            <a:off x="8414775" y="4244650"/>
            <a:ext cx="418647" cy="418572"/>
          </a:xfrm>
          <a:custGeom>
            <a:avLst/>
            <a:gdLst/>
            <a:ahLst/>
            <a:cxnLst/>
            <a:rect l="l" t="t" r="r" b="b"/>
            <a:pathLst>
              <a:path w="73158" h="73145" extrusionOk="0">
                <a:moveTo>
                  <a:pt x="73158" y="73107"/>
                </a:moveTo>
                <a:lnTo>
                  <a:pt x="73158" y="0"/>
                </a:lnTo>
                <a:lnTo>
                  <a:pt x="0" y="73145"/>
                </a:lnTo>
                <a:close/>
              </a:path>
            </a:pathLst>
          </a:custGeom>
          <a:solidFill>
            <a:schemeClr val="accent4"/>
          </a:solidFill>
          <a:ln>
            <a:noFill/>
          </a:ln>
        </p:spPr>
      </p:sp>
      <p:sp>
        <p:nvSpPr>
          <p:cNvPr id="35" name="Google Shape;35;p3"/>
          <p:cNvSpPr/>
          <p:nvPr/>
        </p:nvSpPr>
        <p:spPr>
          <a:xfrm>
            <a:off x="8417710" y="342892"/>
            <a:ext cx="412800" cy="5760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 name="Google Shape;36;p3"/>
          <p:cNvGrpSpPr/>
          <p:nvPr/>
        </p:nvGrpSpPr>
        <p:grpSpPr>
          <a:xfrm>
            <a:off x="311726" y="342910"/>
            <a:ext cx="2560500" cy="520800"/>
            <a:chOff x="311726" y="342910"/>
            <a:chExt cx="2560500" cy="520800"/>
          </a:xfrm>
        </p:grpSpPr>
        <p:sp>
          <p:nvSpPr>
            <p:cNvPr id="37" name="Google Shape;37;p3"/>
            <p:cNvSpPr/>
            <p:nvPr/>
          </p:nvSpPr>
          <p:spPr>
            <a:xfrm>
              <a:off x="311726" y="342910"/>
              <a:ext cx="2560500" cy="520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 name="Google Shape;38;p3"/>
            <p:cNvPicPr preferRelativeResize="0"/>
            <p:nvPr/>
          </p:nvPicPr>
          <p:blipFill rotWithShape="1">
            <a:blip r:embed="rId2">
              <a:alphaModFix/>
            </a:blip>
            <a:srcRect l="377" r="387"/>
            <a:stretch/>
          </p:blipFill>
          <p:spPr>
            <a:xfrm>
              <a:off x="391788" y="382839"/>
              <a:ext cx="2400300" cy="441046"/>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2">
  <p:cSld name="SECTION_HEADER_1">
    <p:bg>
      <p:bgPr>
        <a:noFill/>
        <a:effectLst/>
      </p:bgPr>
    </p:bg>
    <p:spTree>
      <p:nvGrpSpPr>
        <p:cNvPr id="1" name="Shape 43"/>
        <p:cNvGrpSpPr/>
        <p:nvPr/>
      </p:nvGrpSpPr>
      <p:grpSpPr>
        <a:xfrm>
          <a:off x="0" y="0"/>
          <a:ext cx="0" cy="0"/>
          <a:chOff x="0" y="0"/>
          <a:chExt cx="0" cy="0"/>
        </a:xfrm>
      </p:grpSpPr>
      <p:sp>
        <p:nvSpPr>
          <p:cNvPr id="44" name="Google Shape;44;p5"/>
          <p:cNvSpPr/>
          <p:nvPr/>
        </p:nvSpPr>
        <p:spPr>
          <a:xfrm>
            <a:off x="7000" y="4663200"/>
            <a:ext cx="9144000" cy="4917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5"/>
          <p:cNvSpPr/>
          <p:nvPr/>
        </p:nvSpPr>
        <p:spPr>
          <a:xfrm>
            <a:off x="7000" y="-7000"/>
            <a:ext cx="9144000" cy="349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5"/>
          <p:cNvSpPr/>
          <p:nvPr/>
        </p:nvSpPr>
        <p:spPr>
          <a:xfrm>
            <a:off x="0" y="0"/>
            <a:ext cx="311700" cy="51549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5"/>
          <p:cNvSpPr/>
          <p:nvPr/>
        </p:nvSpPr>
        <p:spPr>
          <a:xfrm>
            <a:off x="8839300" y="0"/>
            <a:ext cx="311700" cy="51549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5"/>
          <p:cNvSpPr txBox="1">
            <a:spLocks noGrp="1"/>
          </p:cNvSpPr>
          <p:nvPr>
            <p:ph type="title"/>
          </p:nvPr>
        </p:nvSpPr>
        <p:spPr>
          <a:xfrm>
            <a:off x="311700" y="214884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9" name="Google Shape;49;p5"/>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1" type="tx">
  <p:cSld name="TITLE_AND_BODY">
    <p:spTree>
      <p:nvGrpSpPr>
        <p:cNvPr id="1" name="Shape 57"/>
        <p:cNvGrpSpPr/>
        <p:nvPr/>
      </p:nvGrpSpPr>
      <p:grpSpPr>
        <a:xfrm>
          <a:off x="0" y="0"/>
          <a:ext cx="0" cy="0"/>
          <a:chOff x="0" y="0"/>
          <a:chExt cx="0" cy="0"/>
        </a:xfrm>
      </p:grpSpPr>
      <p:sp>
        <p:nvSpPr>
          <p:cNvPr id="58" name="Google Shape;58;p7"/>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9" name="Google Shape;59;p7"/>
          <p:cNvSpPr txBox="1">
            <a:spLocks noGrp="1"/>
          </p:cNvSpPr>
          <p:nvPr>
            <p:ph type="body" idx="1"/>
          </p:nvPr>
        </p:nvSpPr>
        <p:spPr>
          <a:xfrm>
            <a:off x="311700" y="915600"/>
            <a:ext cx="8520600" cy="3747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1000"/>
              </a:spcBef>
              <a:spcAft>
                <a:spcPts val="0"/>
              </a:spcAft>
              <a:buSzPts val="1400"/>
              <a:buChar char="○"/>
              <a:defRPr/>
            </a:lvl2pPr>
            <a:lvl3pPr marL="1371600" lvl="2" indent="-317500">
              <a:spcBef>
                <a:spcPts val="1000"/>
              </a:spcBef>
              <a:spcAft>
                <a:spcPts val="0"/>
              </a:spcAft>
              <a:buSzPts val="1400"/>
              <a:buChar char="■"/>
              <a:defRPr/>
            </a:lvl3pPr>
            <a:lvl4pPr marL="1828800" lvl="3" indent="-317500">
              <a:spcBef>
                <a:spcPts val="1000"/>
              </a:spcBef>
              <a:spcAft>
                <a:spcPts val="0"/>
              </a:spcAft>
              <a:buSzPts val="1400"/>
              <a:buChar char="●"/>
              <a:defRPr/>
            </a:lvl4pPr>
            <a:lvl5pPr marL="2286000" lvl="4" indent="-317500">
              <a:spcBef>
                <a:spcPts val="1000"/>
              </a:spcBef>
              <a:spcAft>
                <a:spcPts val="0"/>
              </a:spcAft>
              <a:buSzPts val="1400"/>
              <a:buChar char="○"/>
              <a:defRPr/>
            </a:lvl5pPr>
            <a:lvl6pPr marL="2743200" lvl="5" indent="-317500">
              <a:spcBef>
                <a:spcPts val="1000"/>
              </a:spcBef>
              <a:spcAft>
                <a:spcPts val="0"/>
              </a:spcAft>
              <a:buSzPts val="1400"/>
              <a:buChar char="■"/>
              <a:defRPr/>
            </a:lvl6pPr>
            <a:lvl7pPr marL="3200400" lvl="6" indent="-317500">
              <a:spcBef>
                <a:spcPts val="1000"/>
              </a:spcBef>
              <a:spcAft>
                <a:spcPts val="0"/>
              </a:spcAft>
              <a:buSzPts val="1400"/>
              <a:buChar char="●"/>
              <a:defRPr/>
            </a:lvl7pPr>
            <a:lvl8pPr marL="3657600" lvl="7" indent="-317500">
              <a:spcBef>
                <a:spcPts val="1000"/>
              </a:spcBef>
              <a:spcAft>
                <a:spcPts val="0"/>
              </a:spcAft>
              <a:buSzPts val="1400"/>
              <a:buChar char="○"/>
              <a:defRPr/>
            </a:lvl8pPr>
            <a:lvl9pPr marL="4114800" lvl="8" indent="-317500">
              <a:spcBef>
                <a:spcPts val="1000"/>
              </a:spcBef>
              <a:spcAft>
                <a:spcPts val="1000"/>
              </a:spcAft>
              <a:buSzPts val="1400"/>
              <a:buChar char="■"/>
              <a:defRPr/>
            </a:lvl9pPr>
          </a:lstStyle>
          <a:p>
            <a:endParaRPr/>
          </a:p>
        </p:txBody>
      </p:sp>
      <p:sp>
        <p:nvSpPr>
          <p:cNvPr id="60" name="Google Shape;60;p7"/>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hree columns">
  <p:cSld name="TITLE_AND_TWO_COLUMNS_1">
    <p:spTree>
      <p:nvGrpSpPr>
        <p:cNvPr id="1" name="Shape 82"/>
        <p:cNvGrpSpPr/>
        <p:nvPr/>
      </p:nvGrpSpPr>
      <p:grpSpPr>
        <a:xfrm>
          <a:off x="0" y="0"/>
          <a:ext cx="0" cy="0"/>
          <a:chOff x="0" y="0"/>
          <a:chExt cx="0" cy="0"/>
        </a:xfrm>
      </p:grpSpPr>
      <p:sp>
        <p:nvSpPr>
          <p:cNvPr id="83" name="Google Shape;83;p11"/>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4" name="Google Shape;84;p11"/>
          <p:cNvSpPr txBox="1">
            <a:spLocks noGrp="1"/>
          </p:cNvSpPr>
          <p:nvPr>
            <p:ph type="body" idx="1"/>
          </p:nvPr>
        </p:nvSpPr>
        <p:spPr>
          <a:xfrm>
            <a:off x="311700" y="1005850"/>
            <a:ext cx="2679600" cy="3657300"/>
          </a:xfrm>
          <a:prstGeom prst="rect">
            <a:avLst/>
          </a:prstGeom>
          <a:solidFill>
            <a:schemeClr val="accent3"/>
          </a:solidFill>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1000"/>
              </a:spcBef>
              <a:spcAft>
                <a:spcPts val="0"/>
              </a:spcAft>
              <a:buSzPts val="1200"/>
              <a:buChar char="○"/>
              <a:defRPr sz="1200"/>
            </a:lvl2pPr>
            <a:lvl3pPr marL="1371600" lvl="2" indent="-304800" rtl="0">
              <a:spcBef>
                <a:spcPts val="1000"/>
              </a:spcBef>
              <a:spcAft>
                <a:spcPts val="0"/>
              </a:spcAft>
              <a:buSzPts val="1200"/>
              <a:buChar char="■"/>
              <a:defRPr sz="1200"/>
            </a:lvl3pPr>
            <a:lvl4pPr marL="1828800" lvl="3" indent="-304800" rtl="0">
              <a:spcBef>
                <a:spcPts val="1000"/>
              </a:spcBef>
              <a:spcAft>
                <a:spcPts val="0"/>
              </a:spcAft>
              <a:buSzPts val="1200"/>
              <a:buChar char="●"/>
              <a:defRPr sz="1200"/>
            </a:lvl4pPr>
            <a:lvl5pPr marL="2286000" lvl="4" indent="-304800" rtl="0">
              <a:spcBef>
                <a:spcPts val="1000"/>
              </a:spcBef>
              <a:spcAft>
                <a:spcPts val="0"/>
              </a:spcAft>
              <a:buSzPts val="1200"/>
              <a:buChar char="○"/>
              <a:defRPr sz="1200"/>
            </a:lvl5pPr>
            <a:lvl6pPr marL="2743200" lvl="5" indent="-304800" rtl="0">
              <a:spcBef>
                <a:spcPts val="1000"/>
              </a:spcBef>
              <a:spcAft>
                <a:spcPts val="0"/>
              </a:spcAft>
              <a:buSzPts val="1200"/>
              <a:buChar char="■"/>
              <a:defRPr sz="1200"/>
            </a:lvl6pPr>
            <a:lvl7pPr marL="3200400" lvl="6" indent="-304800" rtl="0">
              <a:spcBef>
                <a:spcPts val="1000"/>
              </a:spcBef>
              <a:spcAft>
                <a:spcPts val="0"/>
              </a:spcAft>
              <a:buSzPts val="1200"/>
              <a:buChar char="●"/>
              <a:defRPr sz="1200"/>
            </a:lvl7pPr>
            <a:lvl8pPr marL="3657600" lvl="7" indent="-304800" rtl="0">
              <a:spcBef>
                <a:spcPts val="1000"/>
              </a:spcBef>
              <a:spcAft>
                <a:spcPts val="0"/>
              </a:spcAft>
              <a:buSzPts val="1200"/>
              <a:buChar char="○"/>
              <a:defRPr sz="1200"/>
            </a:lvl8pPr>
            <a:lvl9pPr marL="4114800" lvl="8" indent="-304800" rtl="0">
              <a:spcBef>
                <a:spcPts val="1000"/>
              </a:spcBef>
              <a:spcAft>
                <a:spcPts val="1000"/>
              </a:spcAft>
              <a:buSzPts val="1200"/>
              <a:buChar char="■"/>
              <a:defRPr sz="1200"/>
            </a:lvl9pPr>
          </a:lstStyle>
          <a:p>
            <a:endParaRPr/>
          </a:p>
        </p:txBody>
      </p:sp>
      <p:sp>
        <p:nvSpPr>
          <p:cNvPr id="85" name="Google Shape;85;p11"/>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86" name="Google Shape;86;p11"/>
          <p:cNvSpPr txBox="1">
            <a:spLocks noGrp="1"/>
          </p:cNvSpPr>
          <p:nvPr>
            <p:ph type="body" idx="2"/>
          </p:nvPr>
        </p:nvSpPr>
        <p:spPr>
          <a:xfrm>
            <a:off x="6152700" y="1005850"/>
            <a:ext cx="2679600" cy="3657300"/>
          </a:xfrm>
          <a:prstGeom prst="rect">
            <a:avLst/>
          </a:prstGeom>
          <a:solidFill>
            <a:schemeClr val="accent3"/>
          </a:solidFill>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1000"/>
              </a:spcBef>
              <a:spcAft>
                <a:spcPts val="0"/>
              </a:spcAft>
              <a:buSzPts val="1200"/>
              <a:buChar char="○"/>
              <a:defRPr sz="1200"/>
            </a:lvl2pPr>
            <a:lvl3pPr marL="1371600" lvl="2" indent="-304800" rtl="0">
              <a:spcBef>
                <a:spcPts val="1000"/>
              </a:spcBef>
              <a:spcAft>
                <a:spcPts val="0"/>
              </a:spcAft>
              <a:buSzPts val="1200"/>
              <a:buChar char="■"/>
              <a:defRPr sz="1200"/>
            </a:lvl3pPr>
            <a:lvl4pPr marL="1828800" lvl="3" indent="-304800" rtl="0">
              <a:spcBef>
                <a:spcPts val="1000"/>
              </a:spcBef>
              <a:spcAft>
                <a:spcPts val="0"/>
              </a:spcAft>
              <a:buSzPts val="1200"/>
              <a:buChar char="●"/>
              <a:defRPr sz="1200"/>
            </a:lvl4pPr>
            <a:lvl5pPr marL="2286000" lvl="4" indent="-304800" rtl="0">
              <a:spcBef>
                <a:spcPts val="1000"/>
              </a:spcBef>
              <a:spcAft>
                <a:spcPts val="0"/>
              </a:spcAft>
              <a:buSzPts val="1200"/>
              <a:buChar char="○"/>
              <a:defRPr sz="1200"/>
            </a:lvl5pPr>
            <a:lvl6pPr marL="2743200" lvl="5" indent="-304800" rtl="0">
              <a:spcBef>
                <a:spcPts val="1000"/>
              </a:spcBef>
              <a:spcAft>
                <a:spcPts val="0"/>
              </a:spcAft>
              <a:buSzPts val="1200"/>
              <a:buChar char="■"/>
              <a:defRPr sz="1200"/>
            </a:lvl6pPr>
            <a:lvl7pPr marL="3200400" lvl="6" indent="-304800" rtl="0">
              <a:spcBef>
                <a:spcPts val="1000"/>
              </a:spcBef>
              <a:spcAft>
                <a:spcPts val="0"/>
              </a:spcAft>
              <a:buSzPts val="1200"/>
              <a:buChar char="●"/>
              <a:defRPr sz="1200"/>
            </a:lvl7pPr>
            <a:lvl8pPr marL="3657600" lvl="7" indent="-304800" rtl="0">
              <a:spcBef>
                <a:spcPts val="1000"/>
              </a:spcBef>
              <a:spcAft>
                <a:spcPts val="0"/>
              </a:spcAft>
              <a:buSzPts val="1200"/>
              <a:buChar char="○"/>
              <a:defRPr sz="1200"/>
            </a:lvl8pPr>
            <a:lvl9pPr marL="4114800" lvl="8" indent="-304800" rtl="0">
              <a:spcBef>
                <a:spcPts val="1000"/>
              </a:spcBef>
              <a:spcAft>
                <a:spcPts val="1000"/>
              </a:spcAft>
              <a:buSzPts val="1200"/>
              <a:buChar char="■"/>
              <a:defRPr sz="1200"/>
            </a:lvl9pPr>
          </a:lstStyle>
          <a:p>
            <a:endParaRPr/>
          </a:p>
        </p:txBody>
      </p:sp>
      <p:sp>
        <p:nvSpPr>
          <p:cNvPr id="87" name="Google Shape;87;p11"/>
          <p:cNvSpPr txBox="1">
            <a:spLocks noGrp="1"/>
          </p:cNvSpPr>
          <p:nvPr>
            <p:ph type="body" idx="3"/>
          </p:nvPr>
        </p:nvSpPr>
        <p:spPr>
          <a:xfrm>
            <a:off x="3232200" y="1005850"/>
            <a:ext cx="2679600" cy="3657300"/>
          </a:xfrm>
          <a:prstGeom prst="rect">
            <a:avLst/>
          </a:prstGeom>
          <a:solidFill>
            <a:schemeClr val="accent3"/>
          </a:solidFill>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1000"/>
              </a:spcBef>
              <a:spcAft>
                <a:spcPts val="0"/>
              </a:spcAft>
              <a:buSzPts val="1200"/>
              <a:buChar char="○"/>
              <a:defRPr sz="1200"/>
            </a:lvl2pPr>
            <a:lvl3pPr marL="1371600" lvl="2" indent="-304800" rtl="0">
              <a:spcBef>
                <a:spcPts val="1000"/>
              </a:spcBef>
              <a:spcAft>
                <a:spcPts val="0"/>
              </a:spcAft>
              <a:buSzPts val="1200"/>
              <a:buChar char="■"/>
              <a:defRPr sz="1200"/>
            </a:lvl3pPr>
            <a:lvl4pPr marL="1828800" lvl="3" indent="-304800" rtl="0">
              <a:spcBef>
                <a:spcPts val="1000"/>
              </a:spcBef>
              <a:spcAft>
                <a:spcPts val="0"/>
              </a:spcAft>
              <a:buSzPts val="1200"/>
              <a:buChar char="●"/>
              <a:defRPr sz="1200"/>
            </a:lvl4pPr>
            <a:lvl5pPr marL="2286000" lvl="4" indent="-304800" rtl="0">
              <a:spcBef>
                <a:spcPts val="1000"/>
              </a:spcBef>
              <a:spcAft>
                <a:spcPts val="0"/>
              </a:spcAft>
              <a:buSzPts val="1200"/>
              <a:buChar char="○"/>
              <a:defRPr sz="1200"/>
            </a:lvl5pPr>
            <a:lvl6pPr marL="2743200" lvl="5" indent="-304800" rtl="0">
              <a:spcBef>
                <a:spcPts val="1000"/>
              </a:spcBef>
              <a:spcAft>
                <a:spcPts val="0"/>
              </a:spcAft>
              <a:buSzPts val="1200"/>
              <a:buChar char="■"/>
              <a:defRPr sz="1200"/>
            </a:lvl6pPr>
            <a:lvl7pPr marL="3200400" lvl="6" indent="-304800" rtl="0">
              <a:spcBef>
                <a:spcPts val="1000"/>
              </a:spcBef>
              <a:spcAft>
                <a:spcPts val="0"/>
              </a:spcAft>
              <a:buSzPts val="1200"/>
              <a:buChar char="●"/>
              <a:defRPr sz="1200"/>
            </a:lvl7pPr>
            <a:lvl8pPr marL="3657600" lvl="7" indent="-304800" rtl="0">
              <a:spcBef>
                <a:spcPts val="1000"/>
              </a:spcBef>
              <a:spcAft>
                <a:spcPts val="0"/>
              </a:spcAft>
              <a:buSzPts val="1200"/>
              <a:buChar char="○"/>
              <a:defRPr sz="1200"/>
            </a:lvl8pPr>
            <a:lvl9pPr marL="4114800" lvl="8" indent="-304800" rtl="0">
              <a:spcBef>
                <a:spcPts val="1000"/>
              </a:spcBef>
              <a:spcAft>
                <a:spcPts val="100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91"/>
        <p:cNvGrpSpPr/>
        <p:nvPr/>
      </p:nvGrpSpPr>
      <p:grpSpPr>
        <a:xfrm>
          <a:off x="0" y="0"/>
          <a:ext cx="0" cy="0"/>
          <a:chOff x="0" y="0"/>
          <a:chExt cx="0" cy="0"/>
        </a:xfrm>
      </p:grpSpPr>
      <p:sp>
        <p:nvSpPr>
          <p:cNvPr id="92" name="Google Shape;92;p13"/>
          <p:cNvSpPr txBox="1">
            <a:spLocks noGrp="1"/>
          </p:cNvSpPr>
          <p:nvPr>
            <p:ph type="title"/>
          </p:nvPr>
        </p:nvSpPr>
        <p:spPr>
          <a:xfrm>
            <a:off x="311700" y="342900"/>
            <a:ext cx="2808000" cy="8664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3" name="Google Shape;93;p13"/>
          <p:cNvSpPr txBox="1">
            <a:spLocks noGrp="1"/>
          </p:cNvSpPr>
          <p:nvPr>
            <p:ph type="body" idx="1"/>
          </p:nvPr>
        </p:nvSpPr>
        <p:spPr>
          <a:xfrm>
            <a:off x="311700" y="1209300"/>
            <a:ext cx="2808000" cy="34539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1000"/>
              </a:spcBef>
              <a:spcAft>
                <a:spcPts val="0"/>
              </a:spcAft>
              <a:buSzPts val="1200"/>
              <a:buChar char="○"/>
              <a:defRPr sz="1200"/>
            </a:lvl2pPr>
            <a:lvl3pPr marL="1371600" lvl="2" indent="-304800">
              <a:spcBef>
                <a:spcPts val="1000"/>
              </a:spcBef>
              <a:spcAft>
                <a:spcPts val="0"/>
              </a:spcAft>
              <a:buSzPts val="1200"/>
              <a:buChar char="■"/>
              <a:defRPr sz="1200"/>
            </a:lvl3pPr>
            <a:lvl4pPr marL="1828800" lvl="3" indent="-304800">
              <a:spcBef>
                <a:spcPts val="1000"/>
              </a:spcBef>
              <a:spcAft>
                <a:spcPts val="0"/>
              </a:spcAft>
              <a:buSzPts val="1200"/>
              <a:buChar char="●"/>
              <a:defRPr sz="1200"/>
            </a:lvl4pPr>
            <a:lvl5pPr marL="2286000" lvl="4" indent="-304800">
              <a:spcBef>
                <a:spcPts val="1000"/>
              </a:spcBef>
              <a:spcAft>
                <a:spcPts val="0"/>
              </a:spcAft>
              <a:buSzPts val="1200"/>
              <a:buChar char="○"/>
              <a:defRPr sz="1200"/>
            </a:lvl5pPr>
            <a:lvl6pPr marL="2743200" lvl="5" indent="-304800">
              <a:spcBef>
                <a:spcPts val="1000"/>
              </a:spcBef>
              <a:spcAft>
                <a:spcPts val="0"/>
              </a:spcAft>
              <a:buSzPts val="1200"/>
              <a:buChar char="■"/>
              <a:defRPr sz="1200"/>
            </a:lvl6pPr>
            <a:lvl7pPr marL="3200400" lvl="6" indent="-304800">
              <a:spcBef>
                <a:spcPts val="1000"/>
              </a:spcBef>
              <a:spcAft>
                <a:spcPts val="0"/>
              </a:spcAft>
              <a:buSzPts val="1200"/>
              <a:buChar char="●"/>
              <a:defRPr sz="1200"/>
            </a:lvl7pPr>
            <a:lvl8pPr marL="3657600" lvl="7" indent="-304800">
              <a:spcBef>
                <a:spcPts val="1000"/>
              </a:spcBef>
              <a:spcAft>
                <a:spcPts val="0"/>
              </a:spcAft>
              <a:buSzPts val="1200"/>
              <a:buChar char="○"/>
              <a:defRPr sz="1200"/>
            </a:lvl8pPr>
            <a:lvl9pPr marL="4114800" lvl="8" indent="-304800">
              <a:spcBef>
                <a:spcPts val="1000"/>
              </a:spcBef>
              <a:spcAft>
                <a:spcPts val="1000"/>
              </a:spcAft>
              <a:buSzPts val="1200"/>
              <a:buChar char="■"/>
              <a:defRPr sz="1200"/>
            </a:lvl9pPr>
          </a:lstStyle>
          <a:p>
            <a:endParaRPr/>
          </a:p>
        </p:txBody>
      </p:sp>
      <p:sp>
        <p:nvSpPr>
          <p:cNvPr id="94" name="Google Shape;94;p13"/>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hanks and contact">
  <p:cSld name="MAIN_POINT_1">
    <p:spTree>
      <p:nvGrpSpPr>
        <p:cNvPr id="1" name="Shape 98"/>
        <p:cNvGrpSpPr/>
        <p:nvPr/>
      </p:nvGrpSpPr>
      <p:grpSpPr>
        <a:xfrm>
          <a:off x="0" y="0"/>
          <a:ext cx="0" cy="0"/>
          <a:chOff x="0" y="0"/>
          <a:chExt cx="0" cy="0"/>
        </a:xfrm>
      </p:grpSpPr>
      <p:sp>
        <p:nvSpPr>
          <p:cNvPr id="99" name="Google Shape;99;p15"/>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grpSp>
        <p:nvGrpSpPr>
          <p:cNvPr id="100" name="Google Shape;100;p15"/>
          <p:cNvGrpSpPr/>
          <p:nvPr/>
        </p:nvGrpSpPr>
        <p:grpSpPr>
          <a:xfrm rot="2700000">
            <a:off x="585683" y="481417"/>
            <a:ext cx="694882" cy="564848"/>
            <a:chOff x="919500" y="1916075"/>
            <a:chExt cx="1067700" cy="867900"/>
          </a:xfrm>
        </p:grpSpPr>
        <p:sp>
          <p:nvSpPr>
            <p:cNvPr id="101" name="Google Shape;101;p15"/>
            <p:cNvSpPr/>
            <p:nvPr/>
          </p:nvSpPr>
          <p:spPr>
            <a:xfrm>
              <a:off x="919500" y="1992275"/>
              <a:ext cx="915300" cy="791700"/>
            </a:xfrm>
            <a:prstGeom prst="triangle">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5"/>
            <p:cNvSpPr/>
            <p:nvPr/>
          </p:nvSpPr>
          <p:spPr>
            <a:xfrm>
              <a:off x="1071900" y="1916075"/>
              <a:ext cx="915300" cy="791700"/>
            </a:xfrm>
            <a:prstGeom prst="triangle">
              <a:avLst>
                <a:gd name="adj"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15"/>
          <p:cNvGrpSpPr/>
          <p:nvPr/>
        </p:nvGrpSpPr>
        <p:grpSpPr>
          <a:xfrm rot="8100000">
            <a:off x="7746888" y="3437645"/>
            <a:ext cx="912919" cy="742084"/>
            <a:chOff x="521400" y="3135325"/>
            <a:chExt cx="1067700" cy="867900"/>
          </a:xfrm>
        </p:grpSpPr>
        <p:sp>
          <p:nvSpPr>
            <p:cNvPr id="104" name="Google Shape;104;p15"/>
            <p:cNvSpPr/>
            <p:nvPr/>
          </p:nvSpPr>
          <p:spPr>
            <a:xfrm>
              <a:off x="521400" y="3211525"/>
              <a:ext cx="915300" cy="791700"/>
            </a:xfrm>
            <a:prstGeom prst="triangl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5"/>
            <p:cNvSpPr/>
            <p:nvPr/>
          </p:nvSpPr>
          <p:spPr>
            <a:xfrm>
              <a:off x="673800" y="3135325"/>
              <a:ext cx="915300" cy="791700"/>
            </a:xfrm>
            <a:prstGeom prst="triangle">
              <a:avLst>
                <a:gd name="adj" fmla="val 5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 name="Google Shape;106;p15"/>
          <p:cNvSpPr txBox="1">
            <a:spLocks noGrp="1"/>
          </p:cNvSpPr>
          <p:nvPr>
            <p:ph type="title"/>
          </p:nvPr>
        </p:nvSpPr>
        <p:spPr>
          <a:xfrm>
            <a:off x="311700" y="342900"/>
            <a:ext cx="8100000" cy="2094000"/>
          </a:xfrm>
          <a:prstGeom prst="rect">
            <a:avLst/>
          </a:prstGeom>
        </p:spPr>
        <p:txBody>
          <a:bodyPr spcFirstLastPara="1" wrap="square" lIns="91425" tIns="91425" rIns="91425" bIns="91425" anchor="b" anchorCtr="0">
            <a:normAutofit/>
          </a:bodyPr>
          <a:lstStyle>
            <a:lvl1pPr lvl="0" rtl="0">
              <a:spcBef>
                <a:spcPts val="0"/>
              </a:spcBef>
              <a:spcAft>
                <a:spcPts val="0"/>
              </a:spcAft>
              <a:buClr>
                <a:schemeClr val="accent1"/>
              </a:buClr>
              <a:buSzPts val="4800"/>
              <a:buNone/>
              <a:defRPr sz="4800">
                <a:solidFill>
                  <a:schemeClr val="accent1"/>
                </a:solidFill>
              </a:defRPr>
            </a:lvl1pPr>
            <a:lvl2pPr lvl="1"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2pPr>
            <a:lvl3pPr lvl="2"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3pPr>
            <a:lvl4pPr lvl="3"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4pPr>
            <a:lvl5pPr lvl="4"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5pPr>
            <a:lvl6pPr lvl="5"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6pPr>
            <a:lvl7pPr lvl="6"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7pPr>
            <a:lvl8pPr lvl="7"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8pPr>
            <a:lvl9pPr lvl="8" rtl="0">
              <a:spcBef>
                <a:spcPts val="0"/>
              </a:spcBef>
              <a:spcAft>
                <a:spcPts val="0"/>
              </a:spcAft>
              <a:buClr>
                <a:schemeClr val="accent1"/>
              </a:buClr>
              <a:buSzPts val="4800"/>
              <a:buFont typeface="Assistant"/>
              <a:buNone/>
              <a:defRPr sz="4800">
                <a:solidFill>
                  <a:schemeClr val="accent1"/>
                </a:solidFill>
                <a:latin typeface="Assistant"/>
                <a:ea typeface="Assistant"/>
                <a:cs typeface="Assistant"/>
                <a:sym typeface="Assistan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42900"/>
            <a:ext cx="81471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2800"/>
              <a:buFont typeface="Assistant"/>
              <a:buNone/>
              <a:defRPr sz="2800" b="1">
                <a:solidFill>
                  <a:schemeClr val="dk1"/>
                </a:solidFill>
                <a:latin typeface="Assistant"/>
                <a:ea typeface="Assistant"/>
                <a:cs typeface="Assistant"/>
                <a:sym typeface="Assistant"/>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915600"/>
            <a:ext cx="8520600" cy="37476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Assistant"/>
              <a:buChar char="●"/>
              <a:defRPr sz="1800">
                <a:solidFill>
                  <a:schemeClr val="dk1"/>
                </a:solidFill>
                <a:latin typeface="Assistant"/>
                <a:ea typeface="Assistant"/>
                <a:cs typeface="Assistant"/>
                <a:sym typeface="Assistant"/>
              </a:defRPr>
            </a:lvl1pPr>
            <a:lvl2pPr marL="914400" lvl="1"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2pPr>
            <a:lvl3pPr marL="1371600" lvl="2"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3pPr>
            <a:lvl4pPr marL="1828800" lvl="3"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4pPr>
            <a:lvl5pPr marL="2286000" lvl="4"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5pPr>
            <a:lvl6pPr marL="2743200" lvl="5"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6pPr>
            <a:lvl7pPr marL="3200400" lvl="6"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7pPr>
            <a:lvl8pPr marL="3657600" lvl="7" indent="-317500">
              <a:lnSpc>
                <a:spcPct val="115000"/>
              </a:lnSpc>
              <a:spcBef>
                <a:spcPts val="1000"/>
              </a:spcBef>
              <a:spcAft>
                <a:spcPts val="0"/>
              </a:spcAft>
              <a:buClr>
                <a:schemeClr val="dk1"/>
              </a:buClr>
              <a:buSzPts val="1400"/>
              <a:buFont typeface="Assistant"/>
              <a:buChar char="○"/>
              <a:defRPr>
                <a:solidFill>
                  <a:schemeClr val="dk1"/>
                </a:solidFill>
                <a:latin typeface="Assistant"/>
                <a:ea typeface="Assistant"/>
                <a:cs typeface="Assistant"/>
                <a:sym typeface="Assistant"/>
              </a:defRPr>
            </a:lvl8pPr>
            <a:lvl9pPr marL="4114800" lvl="8" indent="-317500">
              <a:lnSpc>
                <a:spcPct val="115000"/>
              </a:lnSpc>
              <a:spcBef>
                <a:spcPts val="1000"/>
              </a:spcBef>
              <a:spcAft>
                <a:spcPts val="1000"/>
              </a:spcAft>
              <a:buClr>
                <a:schemeClr val="dk1"/>
              </a:buClr>
              <a:buSzPts val="1400"/>
              <a:buFont typeface="Assistant"/>
              <a:buChar char="■"/>
              <a:defRPr>
                <a:solidFill>
                  <a:schemeClr val="dk1"/>
                </a:solidFill>
                <a:latin typeface="Assistant"/>
                <a:ea typeface="Assistant"/>
                <a:cs typeface="Assistant"/>
                <a:sym typeface="Assistant"/>
              </a:defRPr>
            </a:lvl9pPr>
          </a:lstStyle>
          <a:p>
            <a:endParaRPr/>
          </a:p>
        </p:txBody>
      </p:sp>
      <p:sp>
        <p:nvSpPr>
          <p:cNvPr id="8" name="Google Shape;8;p1"/>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lvl1pPr lvl="0" algn="r">
              <a:buNone/>
              <a:defRPr sz="800">
                <a:solidFill>
                  <a:schemeClr val="dk2"/>
                </a:solidFill>
                <a:latin typeface="Assistant"/>
                <a:ea typeface="Assistant"/>
                <a:cs typeface="Assistant"/>
                <a:sym typeface="Assistant"/>
              </a:defRPr>
            </a:lvl1pPr>
            <a:lvl2pPr lvl="1" algn="r">
              <a:buNone/>
              <a:defRPr sz="800">
                <a:solidFill>
                  <a:schemeClr val="dk2"/>
                </a:solidFill>
                <a:latin typeface="Assistant"/>
                <a:ea typeface="Assistant"/>
                <a:cs typeface="Assistant"/>
                <a:sym typeface="Assistant"/>
              </a:defRPr>
            </a:lvl2pPr>
            <a:lvl3pPr lvl="2" algn="r">
              <a:buNone/>
              <a:defRPr sz="800">
                <a:solidFill>
                  <a:schemeClr val="dk2"/>
                </a:solidFill>
                <a:latin typeface="Assistant"/>
                <a:ea typeface="Assistant"/>
                <a:cs typeface="Assistant"/>
                <a:sym typeface="Assistant"/>
              </a:defRPr>
            </a:lvl3pPr>
            <a:lvl4pPr lvl="3" algn="r">
              <a:buNone/>
              <a:defRPr sz="800">
                <a:solidFill>
                  <a:schemeClr val="dk2"/>
                </a:solidFill>
                <a:latin typeface="Assistant"/>
                <a:ea typeface="Assistant"/>
                <a:cs typeface="Assistant"/>
                <a:sym typeface="Assistant"/>
              </a:defRPr>
            </a:lvl4pPr>
            <a:lvl5pPr lvl="4" algn="r">
              <a:buNone/>
              <a:defRPr sz="800">
                <a:solidFill>
                  <a:schemeClr val="dk2"/>
                </a:solidFill>
                <a:latin typeface="Assistant"/>
                <a:ea typeface="Assistant"/>
                <a:cs typeface="Assistant"/>
                <a:sym typeface="Assistant"/>
              </a:defRPr>
            </a:lvl5pPr>
            <a:lvl6pPr lvl="5" algn="r">
              <a:buNone/>
              <a:defRPr sz="800">
                <a:solidFill>
                  <a:schemeClr val="dk2"/>
                </a:solidFill>
                <a:latin typeface="Assistant"/>
                <a:ea typeface="Assistant"/>
                <a:cs typeface="Assistant"/>
                <a:sym typeface="Assistant"/>
              </a:defRPr>
            </a:lvl6pPr>
            <a:lvl7pPr lvl="6" algn="r">
              <a:buNone/>
              <a:defRPr sz="800">
                <a:solidFill>
                  <a:schemeClr val="dk2"/>
                </a:solidFill>
                <a:latin typeface="Assistant"/>
                <a:ea typeface="Assistant"/>
                <a:cs typeface="Assistant"/>
                <a:sym typeface="Assistant"/>
              </a:defRPr>
            </a:lvl7pPr>
            <a:lvl8pPr lvl="7" algn="r">
              <a:buNone/>
              <a:defRPr sz="800">
                <a:solidFill>
                  <a:schemeClr val="dk2"/>
                </a:solidFill>
                <a:latin typeface="Assistant"/>
                <a:ea typeface="Assistant"/>
                <a:cs typeface="Assistant"/>
                <a:sym typeface="Assistant"/>
              </a:defRPr>
            </a:lvl8pPr>
            <a:lvl9pPr lvl="8" algn="r">
              <a:buNone/>
              <a:defRPr sz="800">
                <a:solidFill>
                  <a:schemeClr val="dk2"/>
                </a:solidFill>
                <a:latin typeface="Assistant"/>
                <a:ea typeface="Assistant"/>
                <a:cs typeface="Assistant"/>
                <a:sym typeface="Assistant"/>
              </a:defRPr>
            </a:lvl9pPr>
          </a:lstStyle>
          <a:p>
            <a:pPr marL="0" lvl="0" indent="0" algn="r" rtl="0">
              <a:spcBef>
                <a:spcPts val="0"/>
              </a:spcBef>
              <a:spcAft>
                <a:spcPts val="0"/>
              </a:spcAft>
              <a:buNone/>
            </a:pPr>
            <a:fld id="{00000000-1234-1234-1234-123412341234}" type="slidenum">
              <a:rPr lang="en"/>
              <a:t>‹#›</a:t>
            </a:fld>
            <a:endParaRPr/>
          </a:p>
        </p:txBody>
      </p:sp>
      <p:grpSp>
        <p:nvGrpSpPr>
          <p:cNvPr id="9" name="Google Shape;9;p1"/>
          <p:cNvGrpSpPr/>
          <p:nvPr/>
        </p:nvGrpSpPr>
        <p:grpSpPr>
          <a:xfrm>
            <a:off x="8458848" y="343116"/>
            <a:ext cx="381224" cy="576102"/>
            <a:chOff x="8458848" y="343116"/>
            <a:chExt cx="381224" cy="576102"/>
          </a:xfrm>
        </p:grpSpPr>
        <p:sp>
          <p:nvSpPr>
            <p:cNvPr id="10" name="Google Shape;10;p1"/>
            <p:cNvSpPr/>
            <p:nvPr/>
          </p:nvSpPr>
          <p:spPr>
            <a:xfrm>
              <a:off x="8458848" y="343116"/>
              <a:ext cx="381224" cy="576102"/>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 name="Google Shape;11;p1"/>
            <p:cNvPicPr preferRelativeResize="0"/>
            <p:nvPr/>
          </p:nvPicPr>
          <p:blipFill rotWithShape="1">
            <a:blip r:embed="rId8">
              <a:alphaModFix/>
            </a:blip>
            <a:srcRect l="79" r="79"/>
            <a:stretch/>
          </p:blipFill>
          <p:spPr>
            <a:xfrm>
              <a:off x="8480104" y="384425"/>
              <a:ext cx="338711" cy="497406"/>
            </a:xfrm>
            <a:prstGeom prst="rect">
              <a:avLst/>
            </a:prstGeom>
            <a:noFill/>
            <a:ln>
              <a:noFill/>
            </a:ln>
          </p:spPr>
        </p:pic>
      </p:gr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3" r:id="rId3"/>
    <p:sldLayoutId id="2147483657" r:id="rId4"/>
    <p:sldLayoutId id="2147483659" r:id="rId5"/>
    <p:sldLayoutId id="2147483661"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96">
          <p15:clr>
            <a:srgbClr val="EA4335"/>
          </p15:clr>
        </p15:guide>
        <p15:guide id="2" pos="5564">
          <p15:clr>
            <a:srgbClr val="EA4335"/>
          </p15:clr>
        </p15:guide>
        <p15:guide id="3" orient="horz" pos="216">
          <p15:clr>
            <a:srgbClr val="EA4335"/>
          </p15:clr>
        </p15:guide>
        <p15:guide id="4" orient="horz" pos="2937">
          <p15:clr>
            <a:srgbClr val="EA4335"/>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hyperlink" Target="mailto:dnytsyk@gmail.com" TargetMode="Externa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8"/>
          <p:cNvSpPr txBox="1">
            <a:spLocks noGrp="1"/>
          </p:cNvSpPr>
          <p:nvPr>
            <p:ph type="ctrTitle"/>
          </p:nvPr>
        </p:nvSpPr>
        <p:spPr>
          <a:xfrm>
            <a:off x="311725" y="1243584"/>
            <a:ext cx="6089100" cy="983801"/>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GB" dirty="0"/>
              <a:t>Data Analytics</a:t>
            </a:r>
          </a:p>
        </p:txBody>
      </p:sp>
      <p:sp>
        <p:nvSpPr>
          <p:cNvPr id="411" name="Google Shape;411;p38"/>
          <p:cNvSpPr txBox="1">
            <a:spLocks noGrp="1"/>
          </p:cNvSpPr>
          <p:nvPr>
            <p:ph type="subTitle" idx="1"/>
          </p:nvPr>
        </p:nvSpPr>
        <p:spPr>
          <a:xfrm>
            <a:off x="311725" y="2473569"/>
            <a:ext cx="6089100" cy="1338905"/>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GB" b="1" dirty="0"/>
              <a:t>Final project </a:t>
            </a:r>
          </a:p>
          <a:p>
            <a:pPr marL="0" lvl="0" indent="0" algn="l" rtl="0">
              <a:spcBef>
                <a:spcPts val="0"/>
              </a:spcBef>
              <a:spcAft>
                <a:spcPts val="0"/>
              </a:spcAft>
              <a:buNone/>
            </a:pPr>
            <a:endParaRPr lang="en-GB" dirty="0"/>
          </a:p>
          <a:p>
            <a:pPr marL="0" lvl="0" indent="0" algn="l" rtl="0">
              <a:spcBef>
                <a:spcPts val="0"/>
              </a:spcBef>
              <a:spcAft>
                <a:spcPts val="0"/>
              </a:spcAft>
              <a:buNone/>
            </a:pPr>
            <a:r>
              <a:rPr lang="en-GB" dirty="0"/>
              <a:t>Credit Card User Behaviour</a:t>
            </a:r>
            <a:endParaRPr dirty="0"/>
          </a:p>
        </p:txBody>
      </p:sp>
      <p:sp>
        <p:nvSpPr>
          <p:cNvPr id="412" name="Google Shape;412;p38"/>
          <p:cNvSpPr txBox="1"/>
          <p:nvPr/>
        </p:nvSpPr>
        <p:spPr>
          <a:xfrm>
            <a:off x="311687" y="4072325"/>
            <a:ext cx="2953800" cy="763159"/>
          </a:xfrm>
          <a:prstGeom prst="rect">
            <a:avLst/>
          </a:prstGeom>
          <a:noFill/>
          <a:ln>
            <a:noFill/>
          </a:ln>
        </p:spPr>
        <p:txBody>
          <a:bodyPr spcFirstLastPara="1" wrap="square" lIns="91425" tIns="91425" rIns="91425" bIns="91425" anchor="b" anchorCtr="0">
            <a:noAutofit/>
          </a:bodyPr>
          <a:lstStyle/>
          <a:p>
            <a:pPr marL="0" lvl="0" indent="0" algn="l" rtl="0">
              <a:lnSpc>
                <a:spcPct val="80000"/>
              </a:lnSpc>
              <a:spcBef>
                <a:spcPts val="0"/>
              </a:spcBef>
              <a:spcAft>
                <a:spcPts val="0"/>
              </a:spcAft>
              <a:buNone/>
            </a:pPr>
            <a:endParaRPr lang="en-GB" sz="1000" b="1" dirty="0">
              <a:solidFill>
                <a:schemeClr val="accent1"/>
              </a:solidFill>
            </a:endParaRPr>
          </a:p>
          <a:p>
            <a:pPr marL="0" lvl="0" indent="0" algn="l" rtl="0">
              <a:lnSpc>
                <a:spcPct val="80000"/>
              </a:lnSpc>
              <a:spcBef>
                <a:spcPts val="0"/>
              </a:spcBef>
              <a:spcAft>
                <a:spcPts val="0"/>
              </a:spcAft>
              <a:buNone/>
            </a:pPr>
            <a:endParaRPr lang="en-GB" sz="1000" b="1" dirty="0">
              <a:solidFill>
                <a:schemeClr val="accent1"/>
              </a:solidFill>
            </a:endParaRPr>
          </a:p>
          <a:p>
            <a:pPr marL="0" lvl="0" indent="0" algn="l" rtl="0">
              <a:lnSpc>
                <a:spcPct val="80000"/>
              </a:lnSpc>
              <a:spcBef>
                <a:spcPts val="0"/>
              </a:spcBef>
              <a:spcAft>
                <a:spcPts val="0"/>
              </a:spcAft>
              <a:buNone/>
            </a:pPr>
            <a:endParaRPr lang="en-GB" sz="1000" b="1" dirty="0">
              <a:solidFill>
                <a:schemeClr val="accent1"/>
              </a:solidFill>
            </a:endParaRPr>
          </a:p>
          <a:p>
            <a:pPr marL="0" lvl="0" indent="0" algn="l" rtl="0">
              <a:lnSpc>
                <a:spcPct val="80000"/>
              </a:lnSpc>
              <a:spcBef>
                <a:spcPts val="0"/>
              </a:spcBef>
              <a:spcAft>
                <a:spcPts val="0"/>
              </a:spcAft>
              <a:buNone/>
            </a:pPr>
            <a:endParaRPr lang="en-GB" sz="1000" b="1" dirty="0">
              <a:solidFill>
                <a:schemeClr val="accent1"/>
              </a:solidFill>
            </a:endParaRPr>
          </a:p>
          <a:p>
            <a:pPr marL="0" lvl="0" indent="0" algn="l" rtl="0">
              <a:lnSpc>
                <a:spcPct val="80000"/>
              </a:lnSpc>
              <a:spcBef>
                <a:spcPts val="0"/>
              </a:spcBef>
              <a:spcAft>
                <a:spcPts val="0"/>
              </a:spcAft>
              <a:buNone/>
            </a:pPr>
            <a:r>
              <a:rPr lang="en-GB" sz="1000" b="1" dirty="0">
                <a:solidFill>
                  <a:schemeClr val="accent1"/>
                </a:solidFill>
              </a:rPr>
              <a:t>Dmytro </a:t>
            </a:r>
            <a:r>
              <a:rPr lang="en-GB" sz="1000" b="1" dirty="0" err="1">
                <a:solidFill>
                  <a:schemeClr val="accent1"/>
                </a:solidFill>
              </a:rPr>
              <a:t>Ivashchenko</a:t>
            </a:r>
            <a:endParaRPr lang="en-GB" sz="1000" b="1" dirty="0">
              <a:solidFill>
                <a:schemeClr val="accent1"/>
              </a:solidFill>
            </a:endParaRPr>
          </a:p>
          <a:p>
            <a:pPr marL="0" lvl="0" indent="0" algn="l" rtl="0">
              <a:lnSpc>
                <a:spcPct val="80000"/>
              </a:lnSpc>
              <a:spcBef>
                <a:spcPts val="0"/>
              </a:spcBef>
              <a:spcAft>
                <a:spcPts val="0"/>
              </a:spcAft>
              <a:buNone/>
            </a:pPr>
            <a:endParaRPr lang="en-GB" sz="1000" b="1" dirty="0">
              <a:solidFill>
                <a:schemeClr val="accent1"/>
              </a:solidFill>
            </a:endParaRPr>
          </a:p>
          <a:p>
            <a:pPr marL="0" lvl="0" indent="0" algn="l" rtl="0">
              <a:lnSpc>
                <a:spcPct val="80000"/>
              </a:lnSpc>
              <a:spcBef>
                <a:spcPts val="0"/>
              </a:spcBef>
              <a:spcAft>
                <a:spcPts val="0"/>
              </a:spcAft>
              <a:buNone/>
            </a:pPr>
            <a:endParaRPr lang="en-GB" sz="1000" dirty="0">
              <a:solidFill>
                <a:schemeClr val="accent1"/>
              </a:solidFill>
            </a:endParaRPr>
          </a:p>
          <a:p>
            <a:pPr marL="0" lvl="0" indent="0" algn="l" rtl="0">
              <a:lnSpc>
                <a:spcPct val="80000"/>
              </a:lnSpc>
              <a:spcBef>
                <a:spcPts val="0"/>
              </a:spcBef>
              <a:spcAft>
                <a:spcPts val="0"/>
              </a:spcAft>
              <a:buNone/>
            </a:pPr>
            <a:r>
              <a:rPr lang="en-GB" sz="1000" dirty="0">
                <a:solidFill>
                  <a:schemeClr val="accent1"/>
                </a:solidFill>
              </a:rPr>
              <a:t>Munich 2025</a:t>
            </a:r>
          </a:p>
          <a:p>
            <a:pPr marL="0" lvl="0" indent="0" algn="l" rtl="0">
              <a:lnSpc>
                <a:spcPct val="100000"/>
              </a:lnSpc>
              <a:spcBef>
                <a:spcPts val="0"/>
              </a:spcBef>
              <a:spcAft>
                <a:spcPts val="0"/>
              </a:spcAft>
              <a:buSzPts val="865"/>
              <a:buNone/>
            </a:pPr>
            <a:endParaRPr lang="en-US" sz="1000" b="1" dirty="0">
              <a:solidFill>
                <a:schemeClr val="dk1"/>
              </a:solidFill>
              <a:latin typeface="Assistant"/>
              <a:ea typeface="Assistant"/>
              <a:cs typeface="Assistant"/>
              <a:sym typeface="Assistant"/>
            </a:endParaRPr>
          </a:p>
        </p:txBody>
      </p:sp>
      <p:sp>
        <p:nvSpPr>
          <p:cNvPr id="413" name="Google Shape;413;p38"/>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40"/>
          <p:cNvSpPr txBox="1">
            <a:spLocks noGrp="1"/>
          </p:cNvSpPr>
          <p:nvPr>
            <p:ph type="title"/>
          </p:nvPr>
        </p:nvSpPr>
        <p:spPr>
          <a:xfrm>
            <a:off x="311700" y="214884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Problems</a:t>
            </a:r>
            <a:endParaRPr b="1" dirty="0">
              <a:latin typeface="Assistant"/>
              <a:ea typeface="Assistant"/>
              <a:cs typeface="Assistant"/>
              <a:sym typeface="Assistant"/>
            </a:endParaRPr>
          </a:p>
        </p:txBody>
      </p:sp>
      <p:sp>
        <p:nvSpPr>
          <p:cNvPr id="425" name="Google Shape;425;p40"/>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2</a:t>
            </a:fld>
            <a:endParaRPr/>
          </a:p>
        </p:txBody>
      </p:sp>
      <p:pic>
        <p:nvPicPr>
          <p:cNvPr id="426" name="Google Shape;426;p40"/>
          <p:cNvPicPr preferRelativeResize="0"/>
          <p:nvPr/>
        </p:nvPicPr>
        <p:blipFill>
          <a:blip r:embed="rId3">
            <a:alphaModFix/>
          </a:blip>
          <a:stretch>
            <a:fillRect/>
          </a:stretch>
        </p:blipFill>
        <p:spPr>
          <a:xfrm>
            <a:off x="3504792" y="3834195"/>
            <a:ext cx="2134414" cy="82901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2">
          <a:extLst>
            <a:ext uri="{FF2B5EF4-FFF2-40B4-BE49-F238E27FC236}">
              <a16:creationId xmlns:a16="http://schemas.microsoft.com/office/drawing/2014/main" id="{97F17092-3506-E219-3E6C-EE0A5C22ADB2}"/>
            </a:ext>
          </a:extLst>
        </p:cNvPr>
        <p:cNvGrpSpPr/>
        <p:nvPr/>
      </p:nvGrpSpPr>
      <p:grpSpPr>
        <a:xfrm>
          <a:off x="0" y="0"/>
          <a:ext cx="0" cy="0"/>
          <a:chOff x="0" y="0"/>
          <a:chExt cx="0" cy="0"/>
        </a:xfrm>
      </p:grpSpPr>
      <p:sp>
        <p:nvSpPr>
          <p:cNvPr id="144" name="Google Shape;144;p22">
            <a:extLst>
              <a:ext uri="{FF2B5EF4-FFF2-40B4-BE49-F238E27FC236}">
                <a16:creationId xmlns:a16="http://schemas.microsoft.com/office/drawing/2014/main" id="{B559EB3C-C470-2E4B-F99A-627C53EEEBBB}"/>
              </a:ext>
            </a:extLst>
          </p:cNvPr>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p>
            <a:pPr marL="0" lvl="0" indent="0" algn="r" rtl="0">
              <a:lnSpc>
                <a:spcPct val="100000"/>
              </a:lnSpc>
              <a:spcBef>
                <a:spcPts val="0"/>
              </a:spcBef>
              <a:spcAft>
                <a:spcPts val="0"/>
              </a:spcAft>
              <a:buSzPct val="100000"/>
              <a:buNone/>
            </a:pPr>
            <a:fld id="{00000000-1234-1234-1234-123412341234}" type="slidenum">
              <a:rPr lang="en"/>
              <a:t>3</a:t>
            </a:fld>
            <a:endParaRPr/>
          </a:p>
        </p:txBody>
      </p:sp>
      <p:pic>
        <p:nvPicPr>
          <p:cNvPr id="145" name="Google Shape;145;p22">
            <a:extLst>
              <a:ext uri="{FF2B5EF4-FFF2-40B4-BE49-F238E27FC236}">
                <a16:creationId xmlns:a16="http://schemas.microsoft.com/office/drawing/2014/main" id="{019461D6-9DA8-78F0-05FD-EB7EAC13FAA0}"/>
              </a:ext>
            </a:extLst>
          </p:cNvPr>
          <p:cNvPicPr preferRelativeResize="0"/>
          <p:nvPr/>
        </p:nvPicPr>
        <p:blipFill rotWithShape="1">
          <a:blip r:embed="rId3">
            <a:alphaModFix/>
          </a:blip>
          <a:srcRect/>
          <a:stretch/>
        </p:blipFill>
        <p:spPr>
          <a:xfrm>
            <a:off x="6697892" y="3833495"/>
            <a:ext cx="2134414" cy="829011"/>
          </a:xfrm>
          <a:prstGeom prst="rect">
            <a:avLst/>
          </a:prstGeom>
          <a:noFill/>
          <a:ln>
            <a:noFill/>
          </a:ln>
        </p:spPr>
      </p:pic>
      <p:sp>
        <p:nvSpPr>
          <p:cNvPr id="146" name="Google Shape;146;p22">
            <a:extLst>
              <a:ext uri="{FF2B5EF4-FFF2-40B4-BE49-F238E27FC236}">
                <a16:creationId xmlns:a16="http://schemas.microsoft.com/office/drawing/2014/main" id="{549B240C-624F-E165-4525-3124BE0AC288}"/>
              </a:ext>
            </a:extLst>
          </p:cNvPr>
          <p:cNvSpPr txBox="1"/>
          <p:nvPr/>
        </p:nvSpPr>
        <p:spPr>
          <a:xfrm>
            <a:off x="1084875" y="3356675"/>
            <a:ext cx="5822400" cy="73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endParaRPr sz="1300" b="1">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147" name="Google Shape;147;p22">
            <a:extLst>
              <a:ext uri="{FF2B5EF4-FFF2-40B4-BE49-F238E27FC236}">
                <a16:creationId xmlns:a16="http://schemas.microsoft.com/office/drawing/2014/main" id="{BAFFDEFA-71C1-CC26-44CD-7196BB4B45A0}"/>
              </a:ext>
            </a:extLst>
          </p:cNvPr>
          <p:cNvSpPr txBox="1"/>
          <p:nvPr/>
        </p:nvSpPr>
        <p:spPr>
          <a:xfrm>
            <a:off x="5623175" y="1734175"/>
            <a:ext cx="3003600" cy="1394700"/>
          </a:xfrm>
          <a:prstGeom prst="rect">
            <a:avLst/>
          </a:prstGeom>
          <a:noFill/>
          <a:ln>
            <a:noFill/>
          </a:ln>
          <a:effectLst>
            <a:reflection dist="38100" dir="5400000" fadeDir="5400012" sy="-100000" algn="bl" rotWithShape="0"/>
          </a:effectLst>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latin typeface="Assistant"/>
              <a:ea typeface="Assistant"/>
              <a:cs typeface="Assistant"/>
              <a:sym typeface="Assistant"/>
            </a:endParaRPr>
          </a:p>
        </p:txBody>
      </p:sp>
      <p:sp>
        <p:nvSpPr>
          <p:cNvPr id="148" name="Google Shape;148;p22">
            <a:extLst>
              <a:ext uri="{FF2B5EF4-FFF2-40B4-BE49-F238E27FC236}">
                <a16:creationId xmlns:a16="http://schemas.microsoft.com/office/drawing/2014/main" id="{FC6B287B-AD4C-82A5-BDD7-28A8DEB33057}"/>
              </a:ext>
            </a:extLst>
          </p:cNvPr>
          <p:cNvSpPr txBox="1">
            <a:spLocks noGrp="1"/>
          </p:cNvSpPr>
          <p:nvPr>
            <p:ph type="title"/>
          </p:nvPr>
        </p:nvSpPr>
        <p:spPr>
          <a:xfrm>
            <a:off x="2215016" y="371700"/>
            <a:ext cx="4692259" cy="589200"/>
          </a:xfrm>
          <a:prstGeom prst="rect">
            <a:avLst/>
          </a:prstGeom>
          <a:noFill/>
          <a:ln>
            <a:noFill/>
          </a:ln>
        </p:spPr>
        <p:txBody>
          <a:bodyPr spcFirstLastPara="1" wrap="square" lIns="91425" tIns="91425" rIns="91425" bIns="91425" anchor="t" anchorCtr="0">
            <a:noAutofit/>
          </a:bodyPr>
          <a:lstStyle/>
          <a:p>
            <a:r>
              <a:rPr lang="en-GB" sz="1800" dirty="0">
                <a:solidFill>
                  <a:srgbClr val="191919"/>
                </a:solidFill>
                <a:effectLst/>
                <a:latin typeface="Assistant" pitchFamily="2" charset="-79"/>
                <a:cs typeface="Assistant" pitchFamily="2" charset="-79"/>
              </a:rPr>
              <a:t>Why you chose this project</a:t>
            </a:r>
            <a:endParaRPr sz="2560" dirty="0">
              <a:latin typeface="Arial"/>
              <a:ea typeface="Arial"/>
              <a:cs typeface="Arial"/>
              <a:sym typeface="Arial"/>
            </a:endParaRPr>
          </a:p>
        </p:txBody>
      </p:sp>
      <p:sp>
        <p:nvSpPr>
          <p:cNvPr id="149" name="Google Shape;149;p22">
            <a:extLst>
              <a:ext uri="{FF2B5EF4-FFF2-40B4-BE49-F238E27FC236}">
                <a16:creationId xmlns:a16="http://schemas.microsoft.com/office/drawing/2014/main" id="{55EDD639-CDC1-9907-D6F3-7C9D9D026A6D}"/>
              </a:ext>
            </a:extLst>
          </p:cNvPr>
          <p:cNvSpPr txBox="1"/>
          <p:nvPr/>
        </p:nvSpPr>
        <p:spPr>
          <a:xfrm>
            <a:off x="517225" y="1310005"/>
            <a:ext cx="6986233" cy="1261854"/>
          </a:xfrm>
          <a:prstGeom prst="rect">
            <a:avLst/>
          </a:prstGeom>
          <a:noFill/>
          <a:ln>
            <a:noFill/>
          </a:ln>
        </p:spPr>
        <p:txBody>
          <a:bodyPr spcFirstLastPara="1" wrap="square" lIns="91425" tIns="91425" rIns="91425" bIns="91425" anchor="t" anchorCtr="0">
            <a:spAutoFit/>
          </a:bodyPr>
          <a:lstStyle/>
          <a:p>
            <a:pPr marL="285750" indent="-285750">
              <a:buFont typeface="Arial" panose="020B0604020202020204" pitchFamily="34" charset="0"/>
              <a:buChar char="•"/>
            </a:pPr>
            <a:r>
              <a:rPr lang="en-GB" dirty="0"/>
              <a:t>Churn prediction in banking is a real-world problem impacting revenue.</a:t>
            </a:r>
          </a:p>
          <a:p>
            <a:pPr marL="285750" indent="-285750">
              <a:buFont typeface="Arial" panose="020B0604020202020204" pitchFamily="34" charset="0"/>
              <a:buChar char="•"/>
            </a:pPr>
            <a:r>
              <a:rPr lang="en-GB" dirty="0"/>
              <a:t>Dataset has rich customer info: demographics, transaction history, credit limits.</a:t>
            </a:r>
          </a:p>
          <a:p>
            <a:pPr marL="285750" indent="-285750">
              <a:buFont typeface="Arial" panose="020B0604020202020204" pitchFamily="34" charset="0"/>
              <a:buChar char="•"/>
            </a:pPr>
            <a:r>
              <a:rPr lang="en-GB" dirty="0"/>
              <a:t>Combines domain knowledge from banking with practical data analysis skills.</a:t>
            </a:r>
          </a:p>
          <a:p>
            <a:pPr marL="285750" indent="-285750">
              <a:buFont typeface="Arial" panose="020B0604020202020204" pitchFamily="34" charset="0"/>
              <a:buChar char="•"/>
            </a:pPr>
            <a:r>
              <a:rPr lang="en-GB" dirty="0"/>
              <a:t>Project allows exploration of preprocessing, feature engineering, visualization, and predictive </a:t>
            </a:r>
            <a:r>
              <a:rPr lang="en-GB" dirty="0" err="1"/>
              <a:t>modeling</a:t>
            </a:r>
            <a:r>
              <a:rPr lang="en-GB" dirty="0"/>
              <a:t>.</a:t>
            </a:r>
          </a:p>
        </p:txBody>
      </p:sp>
    </p:spTree>
    <p:extLst>
      <p:ext uri="{BB962C8B-B14F-4D97-AF65-F5344CB8AC3E}">
        <p14:creationId xmlns:p14="http://schemas.microsoft.com/office/powerpoint/2010/main" val="953823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2">
          <a:extLst>
            <a:ext uri="{FF2B5EF4-FFF2-40B4-BE49-F238E27FC236}">
              <a16:creationId xmlns:a16="http://schemas.microsoft.com/office/drawing/2014/main" id="{E5E5380F-3EC6-07F2-4AFE-C0C53BE06677}"/>
            </a:ext>
          </a:extLst>
        </p:cNvPr>
        <p:cNvGrpSpPr/>
        <p:nvPr/>
      </p:nvGrpSpPr>
      <p:grpSpPr>
        <a:xfrm>
          <a:off x="0" y="0"/>
          <a:ext cx="0" cy="0"/>
          <a:chOff x="0" y="0"/>
          <a:chExt cx="0" cy="0"/>
        </a:xfrm>
      </p:grpSpPr>
      <p:sp>
        <p:nvSpPr>
          <p:cNvPr id="144" name="Google Shape;144;p22">
            <a:extLst>
              <a:ext uri="{FF2B5EF4-FFF2-40B4-BE49-F238E27FC236}">
                <a16:creationId xmlns:a16="http://schemas.microsoft.com/office/drawing/2014/main" id="{D0BA4A06-CB97-D517-69E2-DC7D8AAA87F0}"/>
              </a:ext>
            </a:extLst>
          </p:cNvPr>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p>
            <a:pPr marL="0" lvl="0" indent="0" algn="r" rtl="0">
              <a:lnSpc>
                <a:spcPct val="100000"/>
              </a:lnSpc>
              <a:spcBef>
                <a:spcPts val="0"/>
              </a:spcBef>
              <a:spcAft>
                <a:spcPts val="0"/>
              </a:spcAft>
              <a:buSzPct val="100000"/>
              <a:buNone/>
            </a:pPr>
            <a:fld id="{00000000-1234-1234-1234-123412341234}" type="slidenum">
              <a:rPr lang="en"/>
              <a:t>4</a:t>
            </a:fld>
            <a:endParaRPr/>
          </a:p>
        </p:txBody>
      </p:sp>
      <p:pic>
        <p:nvPicPr>
          <p:cNvPr id="145" name="Google Shape;145;p22">
            <a:extLst>
              <a:ext uri="{FF2B5EF4-FFF2-40B4-BE49-F238E27FC236}">
                <a16:creationId xmlns:a16="http://schemas.microsoft.com/office/drawing/2014/main" id="{EA1F1DD2-6169-A5E4-1DE4-8F9EFDD8BA64}"/>
              </a:ext>
            </a:extLst>
          </p:cNvPr>
          <p:cNvPicPr preferRelativeResize="0"/>
          <p:nvPr/>
        </p:nvPicPr>
        <p:blipFill rotWithShape="1">
          <a:blip r:embed="rId3">
            <a:alphaModFix/>
          </a:blip>
          <a:srcRect/>
          <a:stretch/>
        </p:blipFill>
        <p:spPr>
          <a:xfrm>
            <a:off x="6697892" y="3833495"/>
            <a:ext cx="2134414" cy="829011"/>
          </a:xfrm>
          <a:prstGeom prst="rect">
            <a:avLst/>
          </a:prstGeom>
          <a:noFill/>
          <a:ln>
            <a:noFill/>
          </a:ln>
        </p:spPr>
      </p:pic>
      <p:sp>
        <p:nvSpPr>
          <p:cNvPr id="146" name="Google Shape;146;p22">
            <a:extLst>
              <a:ext uri="{FF2B5EF4-FFF2-40B4-BE49-F238E27FC236}">
                <a16:creationId xmlns:a16="http://schemas.microsoft.com/office/drawing/2014/main" id="{DF3204DC-19B8-56CF-1CAE-935813F22F58}"/>
              </a:ext>
            </a:extLst>
          </p:cNvPr>
          <p:cNvSpPr txBox="1"/>
          <p:nvPr/>
        </p:nvSpPr>
        <p:spPr>
          <a:xfrm>
            <a:off x="1084875" y="3356675"/>
            <a:ext cx="5822400" cy="73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endParaRPr sz="1300" b="1">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147" name="Google Shape;147;p22">
            <a:extLst>
              <a:ext uri="{FF2B5EF4-FFF2-40B4-BE49-F238E27FC236}">
                <a16:creationId xmlns:a16="http://schemas.microsoft.com/office/drawing/2014/main" id="{FB74831E-27A4-1895-45EE-55911B26BC3D}"/>
              </a:ext>
            </a:extLst>
          </p:cNvPr>
          <p:cNvSpPr txBox="1"/>
          <p:nvPr/>
        </p:nvSpPr>
        <p:spPr>
          <a:xfrm>
            <a:off x="5623175" y="1734175"/>
            <a:ext cx="3003600" cy="1394700"/>
          </a:xfrm>
          <a:prstGeom prst="rect">
            <a:avLst/>
          </a:prstGeom>
          <a:noFill/>
          <a:ln>
            <a:noFill/>
          </a:ln>
          <a:effectLst>
            <a:reflection dist="38100" dir="5400000" fadeDir="5400012" sy="-100000" algn="bl" rotWithShape="0"/>
          </a:effectLst>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latin typeface="Assistant"/>
              <a:ea typeface="Assistant"/>
              <a:cs typeface="Assistant"/>
              <a:sym typeface="Assistant"/>
            </a:endParaRPr>
          </a:p>
        </p:txBody>
      </p:sp>
      <p:sp>
        <p:nvSpPr>
          <p:cNvPr id="148" name="Google Shape;148;p22">
            <a:extLst>
              <a:ext uri="{FF2B5EF4-FFF2-40B4-BE49-F238E27FC236}">
                <a16:creationId xmlns:a16="http://schemas.microsoft.com/office/drawing/2014/main" id="{CA30B7C4-82DA-F03A-E9C0-9EE14247ECB8}"/>
              </a:ext>
            </a:extLst>
          </p:cNvPr>
          <p:cNvSpPr txBox="1">
            <a:spLocks noGrp="1"/>
          </p:cNvSpPr>
          <p:nvPr>
            <p:ph type="title"/>
          </p:nvPr>
        </p:nvSpPr>
        <p:spPr>
          <a:xfrm>
            <a:off x="1649945" y="359500"/>
            <a:ext cx="4692259" cy="589200"/>
          </a:xfrm>
          <a:prstGeom prst="rect">
            <a:avLst/>
          </a:prstGeom>
          <a:noFill/>
          <a:ln>
            <a:noFill/>
          </a:ln>
        </p:spPr>
        <p:txBody>
          <a:bodyPr spcFirstLastPara="1" wrap="square" lIns="91425" tIns="91425" rIns="91425" bIns="91425" anchor="t" anchorCtr="0">
            <a:noAutofit/>
          </a:bodyPr>
          <a:lstStyle/>
          <a:p>
            <a:r>
              <a:rPr lang="en-US" sz="1800" dirty="0">
                <a:cs typeface="Assistant" pitchFamily="2" charset="-79"/>
              </a:rPr>
              <a:t>Project structure</a:t>
            </a:r>
            <a:endParaRPr sz="1390" dirty="0"/>
          </a:p>
          <a:p>
            <a:pPr marL="0" lvl="0" indent="0" algn="l" rtl="0">
              <a:spcBef>
                <a:spcPts val="1200"/>
              </a:spcBef>
              <a:spcAft>
                <a:spcPts val="0"/>
              </a:spcAft>
              <a:buSzPts val="990"/>
              <a:buNone/>
            </a:pPr>
            <a:endParaRPr sz="2560" dirty="0">
              <a:latin typeface="Arial"/>
              <a:ea typeface="Arial"/>
              <a:cs typeface="Arial"/>
              <a:sym typeface="Arial"/>
            </a:endParaRPr>
          </a:p>
        </p:txBody>
      </p:sp>
      <p:sp>
        <p:nvSpPr>
          <p:cNvPr id="149" name="Google Shape;149;p22">
            <a:extLst>
              <a:ext uri="{FF2B5EF4-FFF2-40B4-BE49-F238E27FC236}">
                <a16:creationId xmlns:a16="http://schemas.microsoft.com/office/drawing/2014/main" id="{EB6282E3-BE94-D90B-2236-05C5D09A9028}"/>
              </a:ext>
            </a:extLst>
          </p:cNvPr>
          <p:cNvSpPr txBox="1"/>
          <p:nvPr/>
        </p:nvSpPr>
        <p:spPr>
          <a:xfrm>
            <a:off x="702443" y="948700"/>
            <a:ext cx="7739113" cy="2698144"/>
          </a:xfrm>
          <a:prstGeom prst="rect">
            <a:avLst/>
          </a:prstGeom>
          <a:noFill/>
          <a:ln>
            <a:noFill/>
          </a:ln>
        </p:spPr>
        <p:txBody>
          <a:bodyPr spcFirstLastPara="1" wrap="square" lIns="91425" tIns="91425" rIns="91425" bIns="91425" anchor="t" anchorCtr="0">
            <a:spAutoFit/>
          </a:bodyPr>
          <a:lstStyle/>
          <a:p>
            <a:pPr>
              <a:lnSpc>
                <a:spcPts val="1350"/>
              </a:lnSpc>
            </a:pPr>
            <a:r>
              <a:rPr lang="en-GB" dirty="0">
                <a:solidFill>
                  <a:schemeClr val="tx1"/>
                </a:solidFill>
                <a:latin typeface="+mn-lt"/>
              </a:rPr>
              <a:t>1. </a:t>
            </a:r>
            <a:r>
              <a:rPr lang="en-GB" dirty="0">
                <a:solidFill>
                  <a:schemeClr val="tx1"/>
                </a:solidFill>
                <a:effectLst/>
                <a:latin typeface="+mn-lt"/>
              </a:rPr>
              <a:t>Problem Statement and Dataset Selection</a:t>
            </a:r>
          </a:p>
          <a:p>
            <a:pPr>
              <a:lnSpc>
                <a:spcPts val="1350"/>
              </a:lnSpc>
            </a:pPr>
            <a:r>
              <a:rPr lang="ru-RU" dirty="0">
                <a:solidFill>
                  <a:schemeClr val="tx1"/>
                </a:solidFill>
                <a:latin typeface="+mn-lt"/>
              </a:rPr>
              <a:t>2. </a:t>
            </a:r>
            <a:r>
              <a:rPr lang="en-GB" dirty="0">
                <a:solidFill>
                  <a:schemeClr val="tx1"/>
                </a:solidFill>
                <a:effectLst/>
                <a:latin typeface="+mn-lt"/>
              </a:rPr>
              <a:t>Data Cleaning &amp; Preprocessing</a:t>
            </a:r>
          </a:p>
          <a:p>
            <a:pPr>
              <a:lnSpc>
                <a:spcPts val="1350"/>
              </a:lnSpc>
            </a:pPr>
            <a:r>
              <a:rPr lang="en-GB" dirty="0">
                <a:solidFill>
                  <a:schemeClr val="tx1"/>
                </a:solidFill>
                <a:effectLst/>
                <a:latin typeface="+mn-lt"/>
              </a:rPr>
              <a:t> - Data Loading</a:t>
            </a:r>
          </a:p>
          <a:p>
            <a:pPr>
              <a:lnSpc>
                <a:spcPts val="1350"/>
              </a:lnSpc>
            </a:pPr>
            <a:r>
              <a:rPr lang="en-GB" dirty="0">
                <a:solidFill>
                  <a:schemeClr val="tx1"/>
                </a:solidFill>
                <a:effectLst/>
                <a:latin typeface="+mn-lt"/>
              </a:rPr>
              <a:t> - Missing Values</a:t>
            </a:r>
          </a:p>
          <a:p>
            <a:pPr>
              <a:lnSpc>
                <a:spcPts val="1350"/>
              </a:lnSpc>
            </a:pPr>
            <a:r>
              <a:rPr lang="en-GB" dirty="0">
                <a:solidFill>
                  <a:schemeClr val="tx1"/>
                </a:solidFill>
                <a:latin typeface="+mn-lt"/>
              </a:rPr>
              <a:t> - </a:t>
            </a:r>
            <a:r>
              <a:rPr lang="en-GB" dirty="0">
                <a:solidFill>
                  <a:schemeClr val="tx1"/>
                </a:solidFill>
                <a:effectLst/>
                <a:latin typeface="+mn-lt"/>
              </a:rPr>
              <a:t>Data Type Conversion</a:t>
            </a:r>
            <a:endParaRPr lang="en-GB" dirty="0">
              <a:solidFill>
                <a:schemeClr val="tx1"/>
              </a:solidFill>
              <a:latin typeface="+mn-lt"/>
            </a:endParaRPr>
          </a:p>
          <a:p>
            <a:pPr>
              <a:lnSpc>
                <a:spcPts val="1350"/>
              </a:lnSpc>
            </a:pPr>
            <a:r>
              <a:rPr lang="en-GB" dirty="0">
                <a:solidFill>
                  <a:schemeClr val="tx1"/>
                </a:solidFill>
                <a:effectLst/>
                <a:latin typeface="+mn-lt"/>
              </a:rPr>
              <a:t> - Outlier Treatment</a:t>
            </a:r>
          </a:p>
          <a:p>
            <a:pPr>
              <a:lnSpc>
                <a:spcPts val="1350"/>
              </a:lnSpc>
            </a:pPr>
            <a:r>
              <a:rPr lang="en-GB" dirty="0">
                <a:solidFill>
                  <a:schemeClr val="tx1"/>
                </a:solidFill>
                <a:latin typeface="+mn-lt"/>
              </a:rPr>
              <a:t> - </a:t>
            </a:r>
            <a:r>
              <a:rPr lang="en-GB" dirty="0">
                <a:solidFill>
                  <a:schemeClr val="tx1"/>
                </a:solidFill>
                <a:effectLst/>
                <a:latin typeface="+mn-lt"/>
              </a:rPr>
              <a:t>Working with Categorical Features</a:t>
            </a:r>
          </a:p>
          <a:p>
            <a:pPr>
              <a:lnSpc>
                <a:spcPts val="1350"/>
              </a:lnSpc>
            </a:pPr>
            <a:r>
              <a:rPr lang="en-GB" dirty="0">
                <a:solidFill>
                  <a:schemeClr val="tx1"/>
                </a:solidFill>
                <a:latin typeface="+mn-lt"/>
              </a:rPr>
              <a:t> - </a:t>
            </a:r>
            <a:r>
              <a:rPr lang="en-GB" dirty="0">
                <a:solidFill>
                  <a:schemeClr val="tx1"/>
                </a:solidFill>
                <a:effectLst/>
                <a:latin typeface="+mn-lt"/>
              </a:rPr>
              <a:t>Feature Engineering</a:t>
            </a:r>
            <a:endParaRPr lang="en-GB" dirty="0">
              <a:solidFill>
                <a:schemeClr val="tx1"/>
              </a:solidFill>
              <a:latin typeface="+mn-lt"/>
            </a:endParaRPr>
          </a:p>
          <a:p>
            <a:pPr>
              <a:lnSpc>
                <a:spcPts val="1350"/>
              </a:lnSpc>
            </a:pPr>
            <a:r>
              <a:rPr lang="en-GB" dirty="0">
                <a:solidFill>
                  <a:schemeClr val="tx1"/>
                </a:solidFill>
                <a:effectLst/>
                <a:latin typeface="+mn-lt"/>
              </a:rPr>
              <a:t>3. Exploratory Data Analysis (EDA)</a:t>
            </a:r>
          </a:p>
          <a:p>
            <a:pPr>
              <a:lnSpc>
                <a:spcPts val="1350"/>
              </a:lnSpc>
            </a:pPr>
            <a:r>
              <a:rPr lang="ru-RU" dirty="0">
                <a:solidFill>
                  <a:schemeClr val="tx1"/>
                </a:solidFill>
                <a:effectLst/>
                <a:latin typeface="+mn-lt"/>
              </a:rPr>
              <a:t> -</a:t>
            </a:r>
            <a:r>
              <a:rPr lang="en-GB" dirty="0">
                <a:solidFill>
                  <a:schemeClr val="tx1"/>
                </a:solidFill>
                <a:effectLst/>
                <a:latin typeface="+mn-lt"/>
              </a:rPr>
              <a:t> General understanding of the data</a:t>
            </a:r>
          </a:p>
          <a:p>
            <a:pPr>
              <a:lnSpc>
                <a:spcPts val="1350"/>
              </a:lnSpc>
            </a:pPr>
            <a:r>
              <a:rPr lang="ru-RU" dirty="0">
                <a:solidFill>
                  <a:schemeClr val="tx1"/>
                </a:solidFill>
                <a:latin typeface="+mn-lt"/>
              </a:rPr>
              <a:t> -</a:t>
            </a:r>
            <a:r>
              <a:rPr lang="en-GB" dirty="0">
                <a:solidFill>
                  <a:schemeClr val="tx1"/>
                </a:solidFill>
                <a:effectLst/>
                <a:latin typeface="+mn-lt"/>
              </a:rPr>
              <a:t> Statistics on key features</a:t>
            </a:r>
          </a:p>
          <a:p>
            <a:pPr>
              <a:lnSpc>
                <a:spcPts val="1350"/>
              </a:lnSpc>
            </a:pPr>
            <a:r>
              <a:rPr lang="ru-RU" dirty="0">
                <a:solidFill>
                  <a:schemeClr val="tx1"/>
                </a:solidFill>
                <a:effectLst/>
                <a:latin typeface="+mn-lt"/>
              </a:rPr>
              <a:t> -</a:t>
            </a:r>
            <a:r>
              <a:rPr lang="en-GB" dirty="0">
                <a:solidFill>
                  <a:schemeClr val="tx1"/>
                </a:solidFill>
                <a:effectLst/>
                <a:latin typeface="+mn-lt"/>
              </a:rPr>
              <a:t> Visualizations</a:t>
            </a:r>
          </a:p>
          <a:p>
            <a:pPr>
              <a:lnSpc>
                <a:spcPts val="1350"/>
              </a:lnSpc>
            </a:pPr>
            <a:r>
              <a:rPr lang="ru-RU" dirty="0">
                <a:solidFill>
                  <a:schemeClr val="tx1"/>
                </a:solidFill>
                <a:effectLst/>
                <a:latin typeface="+mn-lt"/>
              </a:rPr>
              <a:t> -</a:t>
            </a:r>
            <a:r>
              <a:rPr lang="en-GB" dirty="0">
                <a:solidFill>
                  <a:schemeClr val="tx1"/>
                </a:solidFill>
                <a:effectLst/>
                <a:latin typeface="+mn-lt"/>
              </a:rPr>
              <a:t> Interpretation of identified patterns</a:t>
            </a:r>
            <a:endParaRPr lang="ru-RU" dirty="0">
              <a:solidFill>
                <a:schemeClr val="tx1"/>
              </a:solidFill>
              <a:effectLst/>
              <a:latin typeface="+mn-lt"/>
            </a:endParaRPr>
          </a:p>
          <a:p>
            <a:pPr>
              <a:lnSpc>
                <a:spcPts val="1350"/>
              </a:lnSpc>
            </a:pPr>
            <a:r>
              <a:rPr lang="en-GB" dirty="0">
                <a:solidFill>
                  <a:schemeClr val="tx1"/>
                </a:solidFill>
                <a:effectLst/>
                <a:latin typeface="+mn-lt"/>
              </a:rPr>
              <a:t>4. Ethical Considerations &amp; Limitations</a:t>
            </a:r>
          </a:p>
        </p:txBody>
      </p:sp>
    </p:spTree>
    <p:extLst>
      <p:ext uri="{BB962C8B-B14F-4D97-AF65-F5344CB8AC3E}">
        <p14:creationId xmlns:p14="http://schemas.microsoft.com/office/powerpoint/2010/main" val="38481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2">
          <a:extLst>
            <a:ext uri="{FF2B5EF4-FFF2-40B4-BE49-F238E27FC236}">
              <a16:creationId xmlns:a16="http://schemas.microsoft.com/office/drawing/2014/main" id="{698AE390-DF3E-BD1E-03AD-B7793A840079}"/>
            </a:ext>
          </a:extLst>
        </p:cNvPr>
        <p:cNvGrpSpPr/>
        <p:nvPr/>
      </p:nvGrpSpPr>
      <p:grpSpPr>
        <a:xfrm>
          <a:off x="0" y="0"/>
          <a:ext cx="0" cy="0"/>
          <a:chOff x="0" y="0"/>
          <a:chExt cx="0" cy="0"/>
        </a:xfrm>
      </p:grpSpPr>
      <p:sp>
        <p:nvSpPr>
          <p:cNvPr id="144" name="Google Shape;144;p22">
            <a:extLst>
              <a:ext uri="{FF2B5EF4-FFF2-40B4-BE49-F238E27FC236}">
                <a16:creationId xmlns:a16="http://schemas.microsoft.com/office/drawing/2014/main" id="{8355B984-AC56-8ADE-7A5C-29CE7EDB3A85}"/>
              </a:ext>
            </a:extLst>
          </p:cNvPr>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p>
            <a:pPr marL="0" lvl="0" indent="0" algn="r" rtl="0">
              <a:lnSpc>
                <a:spcPct val="100000"/>
              </a:lnSpc>
              <a:spcBef>
                <a:spcPts val="0"/>
              </a:spcBef>
              <a:spcAft>
                <a:spcPts val="0"/>
              </a:spcAft>
              <a:buSzPct val="100000"/>
              <a:buNone/>
            </a:pPr>
            <a:fld id="{00000000-1234-1234-1234-123412341234}" type="slidenum">
              <a:rPr lang="en"/>
              <a:t>5</a:t>
            </a:fld>
            <a:endParaRPr/>
          </a:p>
        </p:txBody>
      </p:sp>
      <p:pic>
        <p:nvPicPr>
          <p:cNvPr id="145" name="Google Shape;145;p22">
            <a:extLst>
              <a:ext uri="{FF2B5EF4-FFF2-40B4-BE49-F238E27FC236}">
                <a16:creationId xmlns:a16="http://schemas.microsoft.com/office/drawing/2014/main" id="{1F212565-937C-F2DD-2BA8-371AD500B226}"/>
              </a:ext>
            </a:extLst>
          </p:cNvPr>
          <p:cNvPicPr preferRelativeResize="0"/>
          <p:nvPr/>
        </p:nvPicPr>
        <p:blipFill rotWithShape="1">
          <a:blip r:embed="rId3">
            <a:alphaModFix/>
          </a:blip>
          <a:srcRect/>
          <a:stretch/>
        </p:blipFill>
        <p:spPr>
          <a:xfrm>
            <a:off x="6697892" y="3833495"/>
            <a:ext cx="2134414" cy="829011"/>
          </a:xfrm>
          <a:prstGeom prst="rect">
            <a:avLst/>
          </a:prstGeom>
          <a:noFill/>
          <a:ln>
            <a:noFill/>
          </a:ln>
        </p:spPr>
      </p:pic>
      <p:sp>
        <p:nvSpPr>
          <p:cNvPr id="146" name="Google Shape;146;p22">
            <a:extLst>
              <a:ext uri="{FF2B5EF4-FFF2-40B4-BE49-F238E27FC236}">
                <a16:creationId xmlns:a16="http://schemas.microsoft.com/office/drawing/2014/main" id="{B21E993E-4224-79DE-B028-6D2E273C4E3F}"/>
              </a:ext>
            </a:extLst>
          </p:cNvPr>
          <p:cNvSpPr txBox="1"/>
          <p:nvPr/>
        </p:nvSpPr>
        <p:spPr>
          <a:xfrm>
            <a:off x="1084875" y="3356675"/>
            <a:ext cx="5822400" cy="73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endParaRPr sz="1300" b="1">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147" name="Google Shape;147;p22">
            <a:extLst>
              <a:ext uri="{FF2B5EF4-FFF2-40B4-BE49-F238E27FC236}">
                <a16:creationId xmlns:a16="http://schemas.microsoft.com/office/drawing/2014/main" id="{372CA57E-CF85-CFC6-06DE-27719A8D234D}"/>
              </a:ext>
            </a:extLst>
          </p:cNvPr>
          <p:cNvSpPr txBox="1"/>
          <p:nvPr/>
        </p:nvSpPr>
        <p:spPr>
          <a:xfrm>
            <a:off x="5623175" y="1734175"/>
            <a:ext cx="3003600" cy="1394700"/>
          </a:xfrm>
          <a:prstGeom prst="rect">
            <a:avLst/>
          </a:prstGeom>
          <a:noFill/>
          <a:ln>
            <a:noFill/>
          </a:ln>
          <a:effectLst>
            <a:reflection dist="38100" dir="5400000" fadeDir="5400012" sy="-100000" algn="bl" rotWithShape="0"/>
          </a:effectLst>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latin typeface="Assistant"/>
              <a:ea typeface="Assistant"/>
              <a:cs typeface="Assistant"/>
              <a:sym typeface="Assistant"/>
            </a:endParaRPr>
          </a:p>
        </p:txBody>
      </p:sp>
      <p:sp>
        <p:nvSpPr>
          <p:cNvPr id="148" name="Google Shape;148;p22">
            <a:extLst>
              <a:ext uri="{FF2B5EF4-FFF2-40B4-BE49-F238E27FC236}">
                <a16:creationId xmlns:a16="http://schemas.microsoft.com/office/drawing/2014/main" id="{ED25E503-E880-9022-7DD0-633D0F18393F}"/>
              </a:ext>
            </a:extLst>
          </p:cNvPr>
          <p:cNvSpPr txBox="1">
            <a:spLocks noGrp="1"/>
          </p:cNvSpPr>
          <p:nvPr>
            <p:ph type="title"/>
          </p:nvPr>
        </p:nvSpPr>
        <p:spPr>
          <a:xfrm>
            <a:off x="2005633" y="440355"/>
            <a:ext cx="4692259" cy="589200"/>
          </a:xfrm>
          <a:prstGeom prst="rect">
            <a:avLst/>
          </a:prstGeom>
          <a:noFill/>
          <a:ln>
            <a:noFill/>
          </a:ln>
        </p:spPr>
        <p:txBody>
          <a:bodyPr spcFirstLastPara="1" wrap="square" lIns="91425" tIns="91425" rIns="91425" bIns="91425" anchor="t" anchorCtr="0">
            <a:noAutofit/>
          </a:bodyPr>
          <a:lstStyle/>
          <a:p>
            <a:r>
              <a:rPr lang="en-US" sz="1800" b="1" dirty="0">
                <a:effectLst/>
                <a:latin typeface="Assistant" pitchFamily="2" charset="-79"/>
                <a:cs typeface="Assistant" pitchFamily="2" charset="-79"/>
              </a:rPr>
              <a:t>Project result</a:t>
            </a:r>
            <a:endParaRPr sz="1390" dirty="0"/>
          </a:p>
          <a:p>
            <a:pPr marL="0" lvl="0" indent="0" algn="l" rtl="0">
              <a:spcBef>
                <a:spcPts val="1200"/>
              </a:spcBef>
              <a:spcAft>
                <a:spcPts val="0"/>
              </a:spcAft>
              <a:buSzPts val="990"/>
              <a:buNone/>
            </a:pPr>
            <a:endParaRPr sz="2560" dirty="0">
              <a:latin typeface="Arial"/>
              <a:ea typeface="Arial"/>
              <a:cs typeface="Arial"/>
              <a:sym typeface="Arial"/>
            </a:endParaRPr>
          </a:p>
        </p:txBody>
      </p:sp>
      <p:sp>
        <p:nvSpPr>
          <p:cNvPr id="149" name="Google Shape;149;p22">
            <a:extLst>
              <a:ext uri="{FF2B5EF4-FFF2-40B4-BE49-F238E27FC236}">
                <a16:creationId xmlns:a16="http://schemas.microsoft.com/office/drawing/2014/main" id="{F072D9B1-832A-12E3-2AE4-F719C640EBD1}"/>
              </a:ext>
            </a:extLst>
          </p:cNvPr>
          <p:cNvSpPr txBox="1"/>
          <p:nvPr/>
        </p:nvSpPr>
        <p:spPr>
          <a:xfrm>
            <a:off x="517225" y="2153870"/>
            <a:ext cx="7689000" cy="923299"/>
          </a:xfrm>
          <a:prstGeom prst="rect">
            <a:avLst/>
          </a:prstGeom>
          <a:noFill/>
          <a:ln>
            <a:noFill/>
          </a:ln>
        </p:spPr>
        <p:txBody>
          <a:bodyPr spcFirstLastPara="1" wrap="square" lIns="91425" tIns="91425" rIns="91425" bIns="91425" anchor="t" anchorCtr="0">
            <a:spAutoFit/>
          </a:bodyPr>
          <a:lstStyle/>
          <a:p>
            <a:pPr>
              <a:buFont typeface="Arial" panose="020B0604020202020204" pitchFamily="34" charset="0"/>
              <a:buChar char="•"/>
            </a:pPr>
            <a:r>
              <a:rPr lang="en-GB" sz="1200" dirty="0"/>
              <a:t>Found that churn correlates strongly with transaction activity and utilization ratio.</a:t>
            </a:r>
          </a:p>
          <a:p>
            <a:pPr>
              <a:buFont typeface="Arial" panose="020B0604020202020204" pitchFamily="34" charset="0"/>
              <a:buChar char="•"/>
            </a:pPr>
            <a:r>
              <a:rPr lang="en-GB" sz="1200" dirty="0"/>
              <a:t>Identified high-risk customers who are less active or underutilizing credit.</a:t>
            </a:r>
          </a:p>
          <a:p>
            <a:pPr>
              <a:buFont typeface="Arial" panose="020B0604020202020204" pitchFamily="34" charset="0"/>
              <a:buChar char="•"/>
            </a:pPr>
            <a:r>
              <a:rPr lang="en-GB" sz="1200" dirty="0"/>
              <a:t>Provides actionable insights for banks: targeted retention campaigns, personalized engagement.</a:t>
            </a:r>
          </a:p>
          <a:p>
            <a:pPr>
              <a:buFont typeface="Arial" panose="020B0604020202020204" pitchFamily="34" charset="0"/>
              <a:buChar char="•"/>
            </a:pPr>
            <a:r>
              <a:rPr lang="en-GB" sz="1200" dirty="0"/>
              <a:t>Highlights importance of monitoring low-activity customers to reduce revenue loss.</a:t>
            </a:r>
          </a:p>
        </p:txBody>
      </p:sp>
    </p:spTree>
    <p:extLst>
      <p:ext uri="{BB962C8B-B14F-4D97-AF65-F5344CB8AC3E}">
        <p14:creationId xmlns:p14="http://schemas.microsoft.com/office/powerpoint/2010/main" val="4163687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2">
          <a:extLst>
            <a:ext uri="{FF2B5EF4-FFF2-40B4-BE49-F238E27FC236}">
              <a16:creationId xmlns:a16="http://schemas.microsoft.com/office/drawing/2014/main" id="{A6C1ECF0-A37B-5513-EE3F-5213A70E7CCB}"/>
            </a:ext>
          </a:extLst>
        </p:cNvPr>
        <p:cNvGrpSpPr/>
        <p:nvPr/>
      </p:nvGrpSpPr>
      <p:grpSpPr>
        <a:xfrm>
          <a:off x="0" y="0"/>
          <a:ext cx="0" cy="0"/>
          <a:chOff x="0" y="0"/>
          <a:chExt cx="0" cy="0"/>
        </a:xfrm>
      </p:grpSpPr>
      <p:sp>
        <p:nvSpPr>
          <p:cNvPr id="144" name="Google Shape;144;p22">
            <a:extLst>
              <a:ext uri="{FF2B5EF4-FFF2-40B4-BE49-F238E27FC236}">
                <a16:creationId xmlns:a16="http://schemas.microsoft.com/office/drawing/2014/main" id="{C6CB3D83-617F-8F69-D801-C1EF96DF61B7}"/>
              </a:ext>
            </a:extLst>
          </p:cNvPr>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p>
            <a:pPr marL="0" lvl="0" indent="0" algn="r" rtl="0">
              <a:lnSpc>
                <a:spcPct val="100000"/>
              </a:lnSpc>
              <a:spcBef>
                <a:spcPts val="0"/>
              </a:spcBef>
              <a:spcAft>
                <a:spcPts val="0"/>
              </a:spcAft>
              <a:buSzPct val="100000"/>
              <a:buNone/>
            </a:pPr>
            <a:fld id="{00000000-1234-1234-1234-123412341234}" type="slidenum">
              <a:rPr lang="en"/>
              <a:t>6</a:t>
            </a:fld>
            <a:endParaRPr/>
          </a:p>
        </p:txBody>
      </p:sp>
      <p:pic>
        <p:nvPicPr>
          <p:cNvPr id="145" name="Google Shape;145;p22">
            <a:extLst>
              <a:ext uri="{FF2B5EF4-FFF2-40B4-BE49-F238E27FC236}">
                <a16:creationId xmlns:a16="http://schemas.microsoft.com/office/drawing/2014/main" id="{BB24BCFF-7207-E30A-BFBF-7BD1D9646DDC}"/>
              </a:ext>
            </a:extLst>
          </p:cNvPr>
          <p:cNvPicPr preferRelativeResize="0"/>
          <p:nvPr/>
        </p:nvPicPr>
        <p:blipFill rotWithShape="1">
          <a:blip r:embed="rId3">
            <a:alphaModFix/>
          </a:blip>
          <a:srcRect/>
          <a:stretch/>
        </p:blipFill>
        <p:spPr>
          <a:xfrm>
            <a:off x="6697892" y="3833495"/>
            <a:ext cx="2134414" cy="829011"/>
          </a:xfrm>
          <a:prstGeom prst="rect">
            <a:avLst/>
          </a:prstGeom>
          <a:noFill/>
          <a:ln>
            <a:noFill/>
          </a:ln>
        </p:spPr>
      </p:pic>
      <p:sp>
        <p:nvSpPr>
          <p:cNvPr id="146" name="Google Shape;146;p22">
            <a:extLst>
              <a:ext uri="{FF2B5EF4-FFF2-40B4-BE49-F238E27FC236}">
                <a16:creationId xmlns:a16="http://schemas.microsoft.com/office/drawing/2014/main" id="{78BF5D63-D765-B31E-C7B1-93BBDE449CBE}"/>
              </a:ext>
            </a:extLst>
          </p:cNvPr>
          <p:cNvSpPr txBox="1"/>
          <p:nvPr/>
        </p:nvSpPr>
        <p:spPr>
          <a:xfrm>
            <a:off x="1084875" y="3356675"/>
            <a:ext cx="5822400" cy="73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endParaRPr sz="1300" b="1">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147" name="Google Shape;147;p22">
            <a:extLst>
              <a:ext uri="{FF2B5EF4-FFF2-40B4-BE49-F238E27FC236}">
                <a16:creationId xmlns:a16="http://schemas.microsoft.com/office/drawing/2014/main" id="{077EBC09-7448-454B-9208-D7761319F832}"/>
              </a:ext>
            </a:extLst>
          </p:cNvPr>
          <p:cNvSpPr txBox="1"/>
          <p:nvPr/>
        </p:nvSpPr>
        <p:spPr>
          <a:xfrm>
            <a:off x="5623175" y="1734175"/>
            <a:ext cx="3003600" cy="1394700"/>
          </a:xfrm>
          <a:prstGeom prst="rect">
            <a:avLst/>
          </a:prstGeom>
          <a:noFill/>
          <a:ln>
            <a:noFill/>
          </a:ln>
          <a:effectLst>
            <a:reflection dist="38100" dir="5400000" fadeDir="5400012" sy="-100000" algn="bl" rotWithShape="0"/>
          </a:effectLst>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latin typeface="Assistant"/>
              <a:ea typeface="Assistant"/>
              <a:cs typeface="Assistant"/>
              <a:sym typeface="Assistant"/>
            </a:endParaRPr>
          </a:p>
        </p:txBody>
      </p:sp>
      <p:sp>
        <p:nvSpPr>
          <p:cNvPr id="148" name="Google Shape;148;p22">
            <a:extLst>
              <a:ext uri="{FF2B5EF4-FFF2-40B4-BE49-F238E27FC236}">
                <a16:creationId xmlns:a16="http://schemas.microsoft.com/office/drawing/2014/main" id="{9E996814-FBD8-32A7-7AB9-E22AC38B7468}"/>
              </a:ext>
            </a:extLst>
          </p:cNvPr>
          <p:cNvSpPr txBox="1">
            <a:spLocks noGrp="1"/>
          </p:cNvSpPr>
          <p:nvPr>
            <p:ph type="title"/>
          </p:nvPr>
        </p:nvSpPr>
        <p:spPr>
          <a:xfrm>
            <a:off x="2811199" y="452075"/>
            <a:ext cx="4692259" cy="589200"/>
          </a:xfrm>
          <a:prstGeom prst="rect">
            <a:avLst/>
          </a:prstGeom>
          <a:noFill/>
          <a:ln>
            <a:noFill/>
          </a:ln>
        </p:spPr>
        <p:txBody>
          <a:bodyPr spcFirstLastPara="1" wrap="square" lIns="91425" tIns="91425" rIns="91425" bIns="91425" anchor="t" anchorCtr="0">
            <a:noAutofit/>
          </a:bodyPr>
          <a:lstStyle/>
          <a:p>
            <a:r>
              <a:rPr lang="en-GB" sz="1800" b="1" dirty="0">
                <a:effectLst/>
                <a:latin typeface="Assistant" pitchFamily="2" charset="-79"/>
                <a:cs typeface="Assistant" pitchFamily="2" charset="-79"/>
              </a:rPr>
              <a:t>Difficulties and roadblocks</a:t>
            </a:r>
            <a:endParaRPr lang="en-GB" sz="1390" dirty="0"/>
          </a:p>
          <a:p>
            <a:pPr marL="0" lvl="0" indent="0" algn="l" rtl="0">
              <a:spcBef>
                <a:spcPts val="1200"/>
              </a:spcBef>
              <a:spcAft>
                <a:spcPts val="0"/>
              </a:spcAft>
              <a:buSzPts val="990"/>
              <a:buNone/>
            </a:pPr>
            <a:endParaRPr lang="en-GB" sz="2560" dirty="0">
              <a:latin typeface="Arial"/>
              <a:ea typeface="Arial"/>
              <a:cs typeface="Arial"/>
              <a:sym typeface="Arial"/>
            </a:endParaRPr>
          </a:p>
        </p:txBody>
      </p:sp>
      <p:sp>
        <p:nvSpPr>
          <p:cNvPr id="149" name="Google Shape;149;p22">
            <a:extLst>
              <a:ext uri="{FF2B5EF4-FFF2-40B4-BE49-F238E27FC236}">
                <a16:creationId xmlns:a16="http://schemas.microsoft.com/office/drawing/2014/main" id="{D00C1BDB-C392-F469-40E5-3C1F94F2772E}"/>
              </a:ext>
            </a:extLst>
          </p:cNvPr>
          <p:cNvSpPr txBox="1"/>
          <p:nvPr/>
        </p:nvSpPr>
        <p:spPr>
          <a:xfrm>
            <a:off x="727500" y="1129975"/>
            <a:ext cx="7689000" cy="1477297"/>
          </a:xfrm>
          <a:prstGeom prst="rect">
            <a:avLst/>
          </a:prstGeom>
          <a:noFill/>
          <a:ln>
            <a:noFill/>
          </a:ln>
        </p:spPr>
        <p:txBody>
          <a:bodyPr spcFirstLastPara="1" wrap="square" lIns="91425" tIns="91425" rIns="91425" bIns="91425" anchor="t" anchorCtr="0">
            <a:spAutoFit/>
          </a:bodyPr>
          <a:lstStyle/>
          <a:p>
            <a:pPr marL="285750" lvl="1" indent="-285750">
              <a:buFont typeface="Arial" panose="020B0604020202020204" pitchFamily="34" charset="0"/>
              <a:buChar char="•"/>
            </a:pPr>
            <a:r>
              <a:rPr lang="en-GB" dirty="0"/>
              <a:t>Dataset was mostly clean → needed to justify preprocessing steps carefully.</a:t>
            </a:r>
          </a:p>
          <a:p>
            <a:pPr marL="285750" indent="-285750">
              <a:buFont typeface="Arial" panose="020B0604020202020204" pitchFamily="34" charset="0"/>
              <a:buChar char="•"/>
            </a:pPr>
            <a:r>
              <a:rPr lang="en-GB" dirty="0"/>
              <a:t>Categorical features had potential order ambiguity → resolved using ordinal encoding for </a:t>
            </a:r>
            <a:r>
              <a:rPr lang="en-GB" dirty="0" err="1"/>
              <a:t>Education_Level</a:t>
            </a:r>
            <a:r>
              <a:rPr lang="en-GB" dirty="0"/>
              <a:t> and </a:t>
            </a:r>
            <a:r>
              <a:rPr lang="en-GB" dirty="0" err="1"/>
              <a:t>Income_Category</a:t>
            </a:r>
            <a:r>
              <a:rPr lang="en-GB" dirty="0"/>
              <a:t>.</a:t>
            </a:r>
          </a:p>
          <a:p>
            <a:pPr marL="285750" indent="-285750">
              <a:buFont typeface="Arial" panose="020B0604020202020204" pitchFamily="34" charset="0"/>
              <a:buChar char="•"/>
            </a:pPr>
            <a:r>
              <a:rPr lang="en-GB" dirty="0"/>
              <a:t>Class imbalance (~16% churn) → noted in limitations, suggested stratified sampling and evaluation metrics like ROC-AUC.</a:t>
            </a:r>
          </a:p>
          <a:p>
            <a:pPr marL="285750" indent="-285750">
              <a:buFont typeface="Arial" panose="020B0604020202020204" pitchFamily="34" charset="0"/>
              <a:buChar char="•"/>
            </a:pPr>
            <a:r>
              <a:rPr lang="en-GB" dirty="0"/>
              <a:t>Addressed each challenge with methodical, well-documented steps.</a:t>
            </a:r>
          </a:p>
        </p:txBody>
      </p:sp>
    </p:spTree>
    <p:extLst>
      <p:ext uri="{BB962C8B-B14F-4D97-AF65-F5344CB8AC3E}">
        <p14:creationId xmlns:p14="http://schemas.microsoft.com/office/powerpoint/2010/main" val="2911134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a:extLst>
            <a:ext uri="{FF2B5EF4-FFF2-40B4-BE49-F238E27FC236}">
              <a16:creationId xmlns:a16="http://schemas.microsoft.com/office/drawing/2014/main" id="{DA527363-3B3D-3DDA-32A4-70AB8AADF1D6}"/>
            </a:ext>
          </a:extLst>
        </p:cNvPr>
        <p:cNvGrpSpPr/>
        <p:nvPr/>
      </p:nvGrpSpPr>
      <p:grpSpPr>
        <a:xfrm>
          <a:off x="0" y="0"/>
          <a:ext cx="0" cy="0"/>
          <a:chOff x="0" y="0"/>
          <a:chExt cx="0" cy="0"/>
        </a:xfrm>
      </p:grpSpPr>
      <p:sp>
        <p:nvSpPr>
          <p:cNvPr id="144" name="Google Shape;144;p22">
            <a:extLst>
              <a:ext uri="{FF2B5EF4-FFF2-40B4-BE49-F238E27FC236}">
                <a16:creationId xmlns:a16="http://schemas.microsoft.com/office/drawing/2014/main" id="{D6345F0B-9F91-20B9-D6D1-C50CAFA4098C}"/>
              </a:ext>
            </a:extLst>
          </p:cNvPr>
          <p:cNvSpPr txBox="1">
            <a:spLocks noGrp="1"/>
          </p:cNvSpPr>
          <p:nvPr>
            <p:ph type="sldNum" idx="12"/>
          </p:nvPr>
        </p:nvSpPr>
        <p:spPr>
          <a:xfrm>
            <a:off x="8466613" y="4762672"/>
            <a:ext cx="365700" cy="274200"/>
          </a:xfrm>
          <a:prstGeom prst="rect">
            <a:avLst/>
          </a:prstGeom>
          <a:noFill/>
          <a:ln>
            <a:noFill/>
          </a:ln>
        </p:spPr>
        <p:txBody>
          <a:bodyPr spcFirstLastPara="1" wrap="square" lIns="91425" tIns="91425" rIns="91425" bIns="91425" anchor="ctr" anchorCtr="0">
            <a:normAutofit fontScale="92500" lnSpcReduction="20000"/>
          </a:bodyPr>
          <a:lstStyle/>
          <a:p>
            <a:pPr marL="0" lvl="0" indent="0" algn="r" rtl="0">
              <a:lnSpc>
                <a:spcPct val="100000"/>
              </a:lnSpc>
              <a:spcBef>
                <a:spcPts val="0"/>
              </a:spcBef>
              <a:spcAft>
                <a:spcPts val="0"/>
              </a:spcAft>
              <a:buSzPct val="100000"/>
              <a:buNone/>
            </a:pPr>
            <a:fld id="{00000000-1234-1234-1234-123412341234}" type="slidenum">
              <a:rPr lang="en"/>
              <a:t>7</a:t>
            </a:fld>
            <a:endParaRPr/>
          </a:p>
        </p:txBody>
      </p:sp>
      <p:pic>
        <p:nvPicPr>
          <p:cNvPr id="145" name="Google Shape;145;p22">
            <a:extLst>
              <a:ext uri="{FF2B5EF4-FFF2-40B4-BE49-F238E27FC236}">
                <a16:creationId xmlns:a16="http://schemas.microsoft.com/office/drawing/2014/main" id="{79EE4C4A-A26B-872C-87BF-8151C0D6BC71}"/>
              </a:ext>
            </a:extLst>
          </p:cNvPr>
          <p:cNvPicPr preferRelativeResize="0"/>
          <p:nvPr/>
        </p:nvPicPr>
        <p:blipFill rotWithShape="1">
          <a:blip r:embed="rId3">
            <a:alphaModFix/>
          </a:blip>
          <a:srcRect/>
          <a:stretch/>
        </p:blipFill>
        <p:spPr>
          <a:xfrm>
            <a:off x="6697892" y="3833495"/>
            <a:ext cx="2134414" cy="829011"/>
          </a:xfrm>
          <a:prstGeom prst="rect">
            <a:avLst/>
          </a:prstGeom>
          <a:noFill/>
          <a:ln>
            <a:noFill/>
          </a:ln>
        </p:spPr>
      </p:pic>
      <p:sp>
        <p:nvSpPr>
          <p:cNvPr id="146" name="Google Shape;146;p22">
            <a:extLst>
              <a:ext uri="{FF2B5EF4-FFF2-40B4-BE49-F238E27FC236}">
                <a16:creationId xmlns:a16="http://schemas.microsoft.com/office/drawing/2014/main" id="{BC956100-D120-6E5A-F315-1A9E639F8DE4}"/>
              </a:ext>
            </a:extLst>
          </p:cNvPr>
          <p:cNvSpPr txBox="1"/>
          <p:nvPr/>
        </p:nvSpPr>
        <p:spPr>
          <a:xfrm>
            <a:off x="1084875" y="3356675"/>
            <a:ext cx="5822400" cy="73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400"/>
              </a:spcBef>
              <a:spcAft>
                <a:spcPts val="0"/>
              </a:spcAft>
              <a:buNone/>
            </a:pPr>
            <a:endParaRPr sz="1300" b="1">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147" name="Google Shape;147;p22">
            <a:extLst>
              <a:ext uri="{FF2B5EF4-FFF2-40B4-BE49-F238E27FC236}">
                <a16:creationId xmlns:a16="http://schemas.microsoft.com/office/drawing/2014/main" id="{98B9F25F-8F78-70E2-7ACE-AA1DC388FFF2}"/>
              </a:ext>
            </a:extLst>
          </p:cNvPr>
          <p:cNvSpPr txBox="1"/>
          <p:nvPr/>
        </p:nvSpPr>
        <p:spPr>
          <a:xfrm>
            <a:off x="5623175" y="1734175"/>
            <a:ext cx="3003600" cy="1394700"/>
          </a:xfrm>
          <a:prstGeom prst="rect">
            <a:avLst/>
          </a:prstGeom>
          <a:noFill/>
          <a:ln>
            <a:noFill/>
          </a:ln>
          <a:effectLst>
            <a:reflection dist="38100" dir="5400000" fadeDir="5400012" sy="-100000" algn="bl" rotWithShape="0"/>
          </a:effectLst>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latin typeface="Assistant"/>
              <a:ea typeface="Assistant"/>
              <a:cs typeface="Assistant"/>
              <a:sym typeface="Assistant"/>
            </a:endParaRPr>
          </a:p>
        </p:txBody>
      </p:sp>
      <p:sp>
        <p:nvSpPr>
          <p:cNvPr id="148" name="Google Shape;148;p22">
            <a:extLst>
              <a:ext uri="{FF2B5EF4-FFF2-40B4-BE49-F238E27FC236}">
                <a16:creationId xmlns:a16="http://schemas.microsoft.com/office/drawing/2014/main" id="{0E3A5CC5-1DD4-6521-3903-2BDA37CE523D}"/>
              </a:ext>
            </a:extLst>
          </p:cNvPr>
          <p:cNvSpPr txBox="1">
            <a:spLocks noGrp="1"/>
          </p:cNvSpPr>
          <p:nvPr>
            <p:ph type="title"/>
          </p:nvPr>
        </p:nvSpPr>
        <p:spPr>
          <a:xfrm>
            <a:off x="1412705" y="425355"/>
            <a:ext cx="4692259" cy="589200"/>
          </a:xfrm>
          <a:prstGeom prst="rect">
            <a:avLst/>
          </a:prstGeom>
          <a:noFill/>
          <a:ln>
            <a:noFill/>
          </a:ln>
        </p:spPr>
        <p:txBody>
          <a:bodyPr spcFirstLastPara="1" wrap="square" lIns="91425" tIns="91425" rIns="91425" bIns="91425" anchor="t" anchorCtr="0">
            <a:noAutofit/>
          </a:bodyPr>
          <a:lstStyle/>
          <a:p>
            <a:r>
              <a:rPr lang="en-GB" sz="1800" b="1" dirty="0">
                <a:effectLst/>
                <a:latin typeface="Assistant" pitchFamily="2" charset="-79"/>
                <a:cs typeface="Assistant" pitchFamily="2" charset="-79"/>
              </a:rPr>
              <a:t>Conclusions</a:t>
            </a:r>
            <a:endParaRPr lang="en-GB" sz="1390" dirty="0"/>
          </a:p>
          <a:p>
            <a:pPr marL="0" lvl="0" indent="0" algn="l" rtl="0">
              <a:spcBef>
                <a:spcPts val="1200"/>
              </a:spcBef>
              <a:spcAft>
                <a:spcPts val="0"/>
              </a:spcAft>
              <a:buSzPts val="990"/>
              <a:buNone/>
            </a:pPr>
            <a:endParaRPr lang="en-GB" sz="2560" dirty="0">
              <a:latin typeface="Arial"/>
              <a:ea typeface="Arial"/>
              <a:cs typeface="Arial"/>
              <a:sym typeface="Arial"/>
            </a:endParaRPr>
          </a:p>
        </p:txBody>
      </p:sp>
      <p:sp>
        <p:nvSpPr>
          <p:cNvPr id="149" name="Google Shape;149;p22">
            <a:extLst>
              <a:ext uri="{FF2B5EF4-FFF2-40B4-BE49-F238E27FC236}">
                <a16:creationId xmlns:a16="http://schemas.microsoft.com/office/drawing/2014/main" id="{B590C0AE-B753-1BC3-66FA-3723E45E43D1}"/>
              </a:ext>
            </a:extLst>
          </p:cNvPr>
          <p:cNvSpPr txBox="1"/>
          <p:nvPr/>
        </p:nvSpPr>
        <p:spPr>
          <a:xfrm>
            <a:off x="727500" y="1129975"/>
            <a:ext cx="7689000" cy="1477297"/>
          </a:xfrm>
          <a:prstGeom prst="rect">
            <a:avLst/>
          </a:prstGeom>
          <a:noFill/>
          <a:ln>
            <a:noFill/>
          </a:ln>
        </p:spPr>
        <p:txBody>
          <a:bodyPr spcFirstLastPara="1" wrap="square" lIns="91425" tIns="91425" rIns="91425" bIns="91425" anchor="t" anchorCtr="0">
            <a:spAutoFit/>
          </a:bodyPr>
          <a:lstStyle/>
          <a:p>
            <a:pPr>
              <a:buFont typeface="Arial" panose="020B0604020202020204" pitchFamily="34" charset="0"/>
              <a:buChar char="•"/>
            </a:pPr>
            <a:r>
              <a:rPr lang="en-GB" dirty="0"/>
              <a:t> Include additional features: transaction trends over time, external </a:t>
            </a:r>
            <a:r>
              <a:rPr lang="en-GB" dirty="0" err="1"/>
              <a:t>behavioral</a:t>
            </a:r>
            <a:r>
              <a:rPr lang="en-GB" dirty="0"/>
              <a:t> data, communication history.</a:t>
            </a:r>
          </a:p>
          <a:p>
            <a:pPr>
              <a:buFont typeface="Arial" panose="020B0604020202020204" pitchFamily="34" charset="0"/>
              <a:buChar char="•"/>
            </a:pPr>
            <a:r>
              <a:rPr lang="en-GB" dirty="0"/>
              <a:t> Experiment with advanced predictive models (</a:t>
            </a:r>
            <a:r>
              <a:rPr lang="en-GB" dirty="0" err="1"/>
              <a:t>RandomForest</a:t>
            </a:r>
            <a:r>
              <a:rPr lang="en-GB" dirty="0"/>
              <a:t>, </a:t>
            </a:r>
            <a:r>
              <a:rPr lang="en-GB" dirty="0" err="1"/>
              <a:t>XGBoost</a:t>
            </a:r>
            <a:r>
              <a:rPr lang="en-GB" dirty="0"/>
              <a:t>) and handle class imbalance.</a:t>
            </a:r>
          </a:p>
          <a:p>
            <a:pPr>
              <a:buFont typeface="Arial" panose="020B0604020202020204" pitchFamily="34" charset="0"/>
              <a:buChar char="•"/>
            </a:pPr>
            <a:r>
              <a:rPr lang="en-GB" dirty="0"/>
              <a:t> Integrate model in banking dashboards for real-time churn risk monitoring.</a:t>
            </a:r>
          </a:p>
          <a:p>
            <a:pPr>
              <a:buFont typeface="Arial" panose="020B0604020202020204" pitchFamily="34" charset="0"/>
              <a:buChar char="•"/>
            </a:pPr>
            <a:r>
              <a:rPr lang="en-GB" dirty="0"/>
              <a:t> Apply fairness and privacy-aware techniques for ethical, responsible deployment.</a:t>
            </a:r>
          </a:p>
        </p:txBody>
      </p:sp>
    </p:spTree>
    <p:extLst>
      <p:ext uri="{BB962C8B-B14F-4D97-AF65-F5344CB8AC3E}">
        <p14:creationId xmlns:p14="http://schemas.microsoft.com/office/powerpoint/2010/main" val="417729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pic>
        <p:nvPicPr>
          <p:cNvPr id="1026" name="Picture 2" descr="Why do small businesses struggle to grow?">
            <a:extLst>
              <a:ext uri="{FF2B5EF4-FFF2-40B4-BE49-F238E27FC236}">
                <a16:creationId xmlns:a16="http://schemas.microsoft.com/office/drawing/2014/main" id="{602B1AFA-CD90-FCE6-279C-3E3C096097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672" y="985076"/>
            <a:ext cx="8244904" cy="3880545"/>
          </a:xfrm>
          <a:prstGeom prst="rect">
            <a:avLst/>
          </a:prstGeom>
          <a:noFill/>
          <a:extLst>
            <a:ext uri="{909E8E84-426E-40DD-AFC4-6F175D3DCCD1}">
              <a14:hiddenFill xmlns:a14="http://schemas.microsoft.com/office/drawing/2010/main">
                <a:solidFill>
                  <a:srgbClr val="FFFFFF"/>
                </a:solidFill>
              </a14:hiddenFill>
            </a:ext>
          </a:extLst>
        </p:spPr>
      </p:pic>
      <p:sp>
        <p:nvSpPr>
          <p:cNvPr id="438" name="Google Shape;438;p42"/>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GB" dirty="0"/>
              <a:t>What problems do small businesses often face?</a:t>
            </a:r>
            <a:endParaRPr b="1" dirty="0">
              <a:latin typeface="Assistant"/>
              <a:ea typeface="Assistant"/>
              <a:cs typeface="Assistant"/>
              <a:sym typeface="Assistant"/>
            </a:endParaRPr>
          </a:p>
        </p:txBody>
      </p:sp>
      <p:sp>
        <p:nvSpPr>
          <p:cNvPr id="440" name="Google Shape;440;p42"/>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8</a:t>
            </a:fld>
            <a:endParaRPr/>
          </a:p>
        </p:txBody>
      </p:sp>
      <p:sp>
        <p:nvSpPr>
          <p:cNvPr id="6" name="Google Shape;439;p42">
            <a:extLst>
              <a:ext uri="{FF2B5EF4-FFF2-40B4-BE49-F238E27FC236}">
                <a16:creationId xmlns:a16="http://schemas.microsoft.com/office/drawing/2014/main" id="{BEE96196-4886-930A-AB99-2EC202387589}"/>
              </a:ext>
            </a:extLst>
          </p:cNvPr>
          <p:cNvSpPr txBox="1">
            <a:spLocks noGrp="1"/>
          </p:cNvSpPr>
          <p:nvPr>
            <p:ph type="body" idx="1"/>
          </p:nvPr>
        </p:nvSpPr>
        <p:spPr>
          <a:xfrm>
            <a:off x="2136271" y="3283038"/>
            <a:ext cx="4977728" cy="830705"/>
          </a:xfrm>
          <a:prstGeom prst="rect">
            <a:avLst/>
          </a:prstGeom>
        </p:spPr>
        <p:txBody>
          <a:bodyPr spcFirstLastPara="1" wrap="square" lIns="91425" tIns="91425" rIns="91425" bIns="91425" anchor="t" anchorCtr="0">
            <a:normAutofit/>
          </a:bodyPr>
          <a:lstStyle/>
          <a:p>
            <a:pPr marL="114300" lvl="0" indent="0" algn="l" rtl="0">
              <a:spcBef>
                <a:spcPts val="1000"/>
              </a:spcBef>
              <a:spcAft>
                <a:spcPts val="0"/>
              </a:spcAft>
              <a:buSzPts val="1800"/>
              <a:buNone/>
            </a:pPr>
            <a:r>
              <a:rPr lang="en-GB" sz="1600" b="1" dirty="0">
                <a:solidFill>
                  <a:srgbClr val="FF0000"/>
                </a:solidFill>
              </a:rPr>
              <a:t>Lack of transparency of the sales department</a:t>
            </a:r>
            <a:endParaRPr sz="1600" b="1" dirty="0">
              <a:solidFill>
                <a:srgbClr val="FF0000"/>
              </a:solidFill>
            </a:endParaRPr>
          </a:p>
        </p:txBody>
      </p:sp>
      <p:sp>
        <p:nvSpPr>
          <p:cNvPr id="7" name="Google Shape;439;p42">
            <a:extLst>
              <a:ext uri="{FF2B5EF4-FFF2-40B4-BE49-F238E27FC236}">
                <a16:creationId xmlns:a16="http://schemas.microsoft.com/office/drawing/2014/main" id="{90B62D93-96D7-05CD-5C0B-2F366796DCA2}"/>
              </a:ext>
            </a:extLst>
          </p:cNvPr>
          <p:cNvSpPr txBox="1">
            <a:spLocks/>
          </p:cNvSpPr>
          <p:nvPr/>
        </p:nvSpPr>
        <p:spPr>
          <a:xfrm>
            <a:off x="1754072" y="4020826"/>
            <a:ext cx="5742126" cy="83070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Assistant"/>
              <a:buChar char="●"/>
              <a:defRPr sz="1800" b="0" i="0" u="none" strike="noStrike" cap="none">
                <a:solidFill>
                  <a:schemeClr val="dk1"/>
                </a:solidFill>
                <a:latin typeface="Assistant"/>
                <a:ea typeface="Assistant"/>
                <a:cs typeface="Assistant"/>
                <a:sym typeface="Assistant"/>
              </a:defRPr>
            </a:lvl1pPr>
            <a:lvl2pPr marL="914400" marR="0" lvl="1"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2pPr>
            <a:lvl3pPr marL="1371600" marR="0" lvl="2"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3pPr>
            <a:lvl4pPr marL="1828800" marR="0" lvl="3"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4pPr>
            <a:lvl5pPr marL="2286000" marR="0" lvl="4"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5pPr>
            <a:lvl6pPr marL="2743200" marR="0" lvl="5"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6pPr>
            <a:lvl7pPr marL="3200400" marR="0" lvl="6"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7pPr>
            <a:lvl8pPr marL="3657600" marR="0" lvl="7"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8pPr>
            <a:lvl9pPr marL="4114800" marR="0" lvl="8" indent="-317500" algn="l" rtl="0">
              <a:lnSpc>
                <a:spcPct val="115000"/>
              </a:lnSpc>
              <a:spcBef>
                <a:spcPts val="1000"/>
              </a:spcBef>
              <a:spcAft>
                <a:spcPts val="100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9pPr>
          </a:lstStyle>
          <a:p>
            <a:pPr marL="114300" indent="0">
              <a:spcBef>
                <a:spcPts val="1000"/>
              </a:spcBef>
              <a:buNone/>
            </a:pPr>
            <a:r>
              <a:rPr lang="en-GB" sz="1600" b="1" dirty="0">
                <a:solidFill>
                  <a:srgbClr val="FF0000"/>
                </a:solidFill>
              </a:rPr>
              <a:t>Time pressure due to routine tasks and paperwork</a:t>
            </a:r>
          </a:p>
        </p:txBody>
      </p:sp>
      <p:sp>
        <p:nvSpPr>
          <p:cNvPr id="8" name="Google Shape;439;p42">
            <a:extLst>
              <a:ext uri="{FF2B5EF4-FFF2-40B4-BE49-F238E27FC236}">
                <a16:creationId xmlns:a16="http://schemas.microsoft.com/office/drawing/2014/main" id="{F23D0B49-221A-A845-5F96-EA424B0CE5B6}"/>
              </a:ext>
            </a:extLst>
          </p:cNvPr>
          <p:cNvSpPr txBox="1">
            <a:spLocks/>
          </p:cNvSpPr>
          <p:nvPr/>
        </p:nvSpPr>
        <p:spPr>
          <a:xfrm>
            <a:off x="2478424" y="2563528"/>
            <a:ext cx="3881399" cy="757113"/>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Assistant"/>
              <a:buChar char="●"/>
              <a:defRPr sz="1800" b="0" i="0" u="none" strike="noStrike" cap="none">
                <a:solidFill>
                  <a:schemeClr val="dk1"/>
                </a:solidFill>
                <a:latin typeface="Assistant"/>
                <a:ea typeface="Assistant"/>
                <a:cs typeface="Assistant"/>
                <a:sym typeface="Assistant"/>
              </a:defRPr>
            </a:lvl1pPr>
            <a:lvl2pPr marL="914400" marR="0" lvl="1"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2pPr>
            <a:lvl3pPr marL="1371600" marR="0" lvl="2"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3pPr>
            <a:lvl4pPr marL="1828800" marR="0" lvl="3"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4pPr>
            <a:lvl5pPr marL="2286000" marR="0" lvl="4"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5pPr>
            <a:lvl6pPr marL="2743200" marR="0" lvl="5"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6pPr>
            <a:lvl7pPr marL="3200400" marR="0" lvl="6"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7pPr>
            <a:lvl8pPr marL="3657600" marR="0" lvl="7"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8pPr>
            <a:lvl9pPr marL="4114800" marR="0" lvl="8" indent="-317500" algn="l" rtl="0">
              <a:lnSpc>
                <a:spcPct val="115000"/>
              </a:lnSpc>
              <a:spcBef>
                <a:spcPts val="1000"/>
              </a:spcBef>
              <a:spcAft>
                <a:spcPts val="100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9pPr>
          </a:lstStyle>
          <a:p>
            <a:pPr marL="114300" indent="0">
              <a:spcBef>
                <a:spcPts val="1000"/>
              </a:spcBef>
              <a:buNone/>
            </a:pPr>
            <a:r>
              <a:rPr lang="en-GB" sz="1600" b="1" dirty="0">
                <a:solidFill>
                  <a:srgbClr val="FF0000"/>
                </a:solidFill>
              </a:rPr>
              <a:t>Loss of information about customers</a:t>
            </a:r>
          </a:p>
        </p:txBody>
      </p:sp>
      <p:sp>
        <p:nvSpPr>
          <p:cNvPr id="9" name="Google Shape;439;p42">
            <a:extLst>
              <a:ext uri="{FF2B5EF4-FFF2-40B4-BE49-F238E27FC236}">
                <a16:creationId xmlns:a16="http://schemas.microsoft.com/office/drawing/2014/main" id="{25F86957-7C8C-AAF7-313E-DF118CB58807}"/>
              </a:ext>
            </a:extLst>
          </p:cNvPr>
          <p:cNvSpPr txBox="1">
            <a:spLocks/>
          </p:cNvSpPr>
          <p:nvPr/>
        </p:nvSpPr>
        <p:spPr>
          <a:xfrm>
            <a:off x="2818201" y="1963738"/>
            <a:ext cx="3495487" cy="648133"/>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Assistant"/>
              <a:buChar char="●"/>
              <a:defRPr sz="1800" b="0" i="0" u="none" strike="noStrike" cap="none">
                <a:solidFill>
                  <a:schemeClr val="dk1"/>
                </a:solidFill>
                <a:latin typeface="Assistant"/>
                <a:ea typeface="Assistant"/>
                <a:cs typeface="Assistant"/>
                <a:sym typeface="Assistant"/>
              </a:defRPr>
            </a:lvl1pPr>
            <a:lvl2pPr marL="914400" marR="0" lvl="1"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2pPr>
            <a:lvl3pPr marL="1371600" marR="0" lvl="2"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3pPr>
            <a:lvl4pPr marL="1828800" marR="0" lvl="3"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4pPr>
            <a:lvl5pPr marL="2286000" marR="0" lvl="4"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5pPr>
            <a:lvl6pPr marL="2743200" marR="0" lvl="5"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6pPr>
            <a:lvl7pPr marL="3200400" marR="0" lvl="6"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7pPr>
            <a:lvl8pPr marL="3657600" marR="0" lvl="7"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8pPr>
            <a:lvl9pPr marL="4114800" marR="0" lvl="8" indent="-317500" algn="l" rtl="0">
              <a:lnSpc>
                <a:spcPct val="115000"/>
              </a:lnSpc>
              <a:spcBef>
                <a:spcPts val="1000"/>
              </a:spcBef>
              <a:spcAft>
                <a:spcPts val="100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9pPr>
          </a:lstStyle>
          <a:p>
            <a:pPr marL="114300" indent="0">
              <a:spcBef>
                <a:spcPts val="1000"/>
              </a:spcBef>
              <a:buNone/>
            </a:pPr>
            <a:r>
              <a:rPr lang="en-GB" sz="1600" b="1" dirty="0">
                <a:solidFill>
                  <a:srgbClr val="FF0000"/>
                </a:solidFill>
              </a:rPr>
              <a:t>Loss of Customer requests</a:t>
            </a:r>
          </a:p>
        </p:txBody>
      </p:sp>
    </p:spTree>
    <p:extLst>
      <p:ext uri="{BB962C8B-B14F-4D97-AF65-F5344CB8AC3E}">
        <p14:creationId xmlns:p14="http://schemas.microsoft.com/office/powerpoint/2010/main" val="276190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p:bldP spid="8"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40"/>
          <p:cNvSpPr txBox="1">
            <a:spLocks noGrp="1"/>
          </p:cNvSpPr>
          <p:nvPr>
            <p:ph type="title"/>
          </p:nvPr>
        </p:nvSpPr>
        <p:spPr>
          <a:xfrm>
            <a:off x="311700" y="214884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Decision</a:t>
            </a:r>
            <a:endParaRPr b="1" dirty="0">
              <a:latin typeface="Assistant"/>
              <a:ea typeface="Assistant"/>
              <a:cs typeface="Assistant"/>
              <a:sym typeface="Assistant"/>
            </a:endParaRPr>
          </a:p>
        </p:txBody>
      </p:sp>
      <p:sp>
        <p:nvSpPr>
          <p:cNvPr id="425" name="Google Shape;425;p40"/>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9</a:t>
            </a:fld>
            <a:endParaRPr/>
          </a:p>
        </p:txBody>
      </p:sp>
      <p:pic>
        <p:nvPicPr>
          <p:cNvPr id="426" name="Google Shape;426;p40"/>
          <p:cNvPicPr preferRelativeResize="0"/>
          <p:nvPr/>
        </p:nvPicPr>
        <p:blipFill>
          <a:blip r:embed="rId3">
            <a:alphaModFix/>
          </a:blip>
          <a:stretch>
            <a:fillRect/>
          </a:stretch>
        </p:blipFill>
        <p:spPr>
          <a:xfrm>
            <a:off x="3504792" y="3834195"/>
            <a:ext cx="2134414" cy="829011"/>
          </a:xfrm>
          <a:prstGeom prst="rect">
            <a:avLst/>
          </a:prstGeom>
          <a:noFill/>
          <a:ln>
            <a:noFill/>
          </a:ln>
        </p:spPr>
      </p:pic>
    </p:spTree>
    <p:extLst>
      <p:ext uri="{BB962C8B-B14F-4D97-AF65-F5344CB8AC3E}">
        <p14:creationId xmlns:p14="http://schemas.microsoft.com/office/powerpoint/2010/main" val="4079843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4"/>
          <p:cNvSpPr txBox="1">
            <a:spLocks noGrp="1"/>
          </p:cNvSpPr>
          <p:nvPr>
            <p:ph type="title"/>
          </p:nvPr>
        </p:nvSpPr>
        <p:spPr>
          <a:xfrm>
            <a:off x="311700" y="342900"/>
            <a:ext cx="7354726" cy="572700"/>
          </a:xfrm>
          <a:prstGeom prst="rect">
            <a:avLst/>
          </a:prstGeom>
        </p:spPr>
        <p:txBody>
          <a:bodyPr spcFirstLastPara="1" wrap="square" lIns="91425" tIns="91425" rIns="91425" bIns="91425" anchor="ctr" anchorCtr="0">
            <a:normAutofit fontScale="90000"/>
          </a:bodyPr>
          <a:lstStyle/>
          <a:p>
            <a:r>
              <a:rPr lang="en-GB" dirty="0"/>
              <a:t>Customer Relationship Management System </a:t>
            </a:r>
          </a:p>
        </p:txBody>
      </p:sp>
      <p:sp>
        <p:nvSpPr>
          <p:cNvPr id="466" name="Google Shape;466;p44"/>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10</a:t>
            </a:fld>
            <a:endParaRPr/>
          </a:p>
        </p:txBody>
      </p:sp>
      <p:sp>
        <p:nvSpPr>
          <p:cNvPr id="2" name="Google Shape;465;p44">
            <a:extLst>
              <a:ext uri="{FF2B5EF4-FFF2-40B4-BE49-F238E27FC236}">
                <a16:creationId xmlns:a16="http://schemas.microsoft.com/office/drawing/2014/main" id="{E8CA85C5-8DBE-9B31-FC41-4B154801A844}"/>
              </a:ext>
            </a:extLst>
          </p:cNvPr>
          <p:cNvSpPr txBox="1">
            <a:spLocks/>
          </p:cNvSpPr>
          <p:nvPr/>
        </p:nvSpPr>
        <p:spPr>
          <a:xfrm>
            <a:off x="2997349" y="3305369"/>
            <a:ext cx="3227837" cy="636846"/>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Assistant"/>
              <a:buChar char="●"/>
              <a:defRPr sz="1800" b="0" i="0" u="none" strike="noStrike" cap="none">
                <a:solidFill>
                  <a:schemeClr val="dk1"/>
                </a:solidFill>
                <a:latin typeface="Assistant"/>
                <a:ea typeface="Assistant"/>
                <a:cs typeface="Assistant"/>
                <a:sym typeface="Assistant"/>
              </a:defRPr>
            </a:lvl1pPr>
            <a:lvl2pPr marL="914400" marR="0" lvl="1"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2pPr>
            <a:lvl3pPr marL="1371600" marR="0" lvl="2"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3pPr>
            <a:lvl4pPr marL="1828800" marR="0" lvl="3"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4pPr>
            <a:lvl5pPr marL="2286000" marR="0" lvl="4"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5pPr>
            <a:lvl6pPr marL="2743200" marR="0" lvl="5"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6pPr>
            <a:lvl7pPr marL="3200400" marR="0" lvl="6"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7pPr>
            <a:lvl8pPr marL="3657600" marR="0" lvl="7"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8pPr>
            <a:lvl9pPr marL="4114800" marR="0" lvl="8" indent="-317500" algn="l" rtl="0">
              <a:lnSpc>
                <a:spcPct val="115000"/>
              </a:lnSpc>
              <a:spcBef>
                <a:spcPts val="1000"/>
              </a:spcBef>
              <a:spcAft>
                <a:spcPts val="100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9pPr>
          </a:lstStyle>
          <a:p>
            <a:pPr marL="114300" indent="0">
              <a:spcBef>
                <a:spcPts val="1000"/>
              </a:spcBef>
              <a:buNone/>
            </a:pPr>
            <a:endParaRPr lang="en-GB" sz="1200" dirty="0"/>
          </a:p>
        </p:txBody>
      </p:sp>
      <p:pic>
        <p:nvPicPr>
          <p:cNvPr id="7" name="Picture 6">
            <a:extLst>
              <a:ext uri="{FF2B5EF4-FFF2-40B4-BE49-F238E27FC236}">
                <a16:creationId xmlns:a16="http://schemas.microsoft.com/office/drawing/2014/main" id="{442C855C-9F5A-6647-2355-E52CCCB6F4BA}"/>
              </a:ext>
            </a:extLst>
          </p:cNvPr>
          <p:cNvPicPr>
            <a:picLocks noChangeAspect="1"/>
          </p:cNvPicPr>
          <p:nvPr/>
        </p:nvPicPr>
        <p:blipFill>
          <a:blip r:embed="rId3"/>
          <a:stretch>
            <a:fillRect/>
          </a:stretch>
        </p:blipFill>
        <p:spPr>
          <a:xfrm>
            <a:off x="939364" y="865954"/>
            <a:ext cx="6823952" cy="41264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4"/>
          <p:cNvSpPr txBox="1">
            <a:spLocks noGrp="1"/>
          </p:cNvSpPr>
          <p:nvPr>
            <p:ph type="title"/>
          </p:nvPr>
        </p:nvSpPr>
        <p:spPr>
          <a:xfrm>
            <a:off x="311700" y="342900"/>
            <a:ext cx="7354726" cy="572700"/>
          </a:xfrm>
          <a:prstGeom prst="rect">
            <a:avLst/>
          </a:prstGeom>
        </p:spPr>
        <p:txBody>
          <a:bodyPr spcFirstLastPara="1" wrap="square" lIns="91425" tIns="91425" rIns="91425" bIns="91425" anchor="ctr" anchorCtr="0">
            <a:normAutofit fontScale="90000"/>
          </a:bodyPr>
          <a:lstStyle/>
          <a:p>
            <a:r>
              <a:rPr lang="en-GB" dirty="0"/>
              <a:t>My solution allows to store and management data in the database</a:t>
            </a:r>
          </a:p>
        </p:txBody>
      </p:sp>
      <p:sp>
        <p:nvSpPr>
          <p:cNvPr id="466" name="Google Shape;466;p44"/>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11</a:t>
            </a:fld>
            <a:endParaRPr/>
          </a:p>
        </p:txBody>
      </p:sp>
      <p:pic>
        <p:nvPicPr>
          <p:cNvPr id="2052" name="Picture 4" descr="Contact Management Software - Act! is The Best Contact Management System  for Your Business - AlphaLogix">
            <a:extLst>
              <a:ext uri="{FF2B5EF4-FFF2-40B4-BE49-F238E27FC236}">
                <a16:creationId xmlns:a16="http://schemas.microsoft.com/office/drawing/2014/main" id="{E742E49F-E295-DF61-8D12-869AA08B82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6410" y="1183920"/>
            <a:ext cx="4995895" cy="3578752"/>
          </a:xfrm>
          <a:prstGeom prst="rect">
            <a:avLst/>
          </a:prstGeom>
          <a:noFill/>
          <a:extLst>
            <a:ext uri="{909E8E84-426E-40DD-AFC4-6F175D3DCCD1}">
              <a14:hiddenFill xmlns:a14="http://schemas.microsoft.com/office/drawing/2010/main">
                <a:solidFill>
                  <a:srgbClr val="FFFFFF"/>
                </a:solidFill>
              </a14:hiddenFill>
            </a:ext>
          </a:extLst>
        </p:spPr>
      </p:pic>
      <p:sp>
        <p:nvSpPr>
          <p:cNvPr id="2" name="Google Shape;465;p44">
            <a:extLst>
              <a:ext uri="{FF2B5EF4-FFF2-40B4-BE49-F238E27FC236}">
                <a16:creationId xmlns:a16="http://schemas.microsoft.com/office/drawing/2014/main" id="{E8CA85C5-8DBE-9B31-FC41-4B154801A844}"/>
              </a:ext>
            </a:extLst>
          </p:cNvPr>
          <p:cNvSpPr txBox="1">
            <a:spLocks/>
          </p:cNvSpPr>
          <p:nvPr/>
        </p:nvSpPr>
        <p:spPr>
          <a:xfrm>
            <a:off x="2997349" y="3305369"/>
            <a:ext cx="3227837" cy="636846"/>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Assistant"/>
              <a:buChar char="●"/>
              <a:defRPr sz="1800" b="0" i="0" u="none" strike="noStrike" cap="none">
                <a:solidFill>
                  <a:schemeClr val="dk1"/>
                </a:solidFill>
                <a:latin typeface="Assistant"/>
                <a:ea typeface="Assistant"/>
                <a:cs typeface="Assistant"/>
                <a:sym typeface="Assistant"/>
              </a:defRPr>
            </a:lvl1pPr>
            <a:lvl2pPr marL="914400" marR="0" lvl="1"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2pPr>
            <a:lvl3pPr marL="1371600" marR="0" lvl="2"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3pPr>
            <a:lvl4pPr marL="1828800" marR="0" lvl="3"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4pPr>
            <a:lvl5pPr marL="2286000" marR="0" lvl="4"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5pPr>
            <a:lvl6pPr marL="2743200" marR="0" lvl="5"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6pPr>
            <a:lvl7pPr marL="3200400" marR="0" lvl="6"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7pPr>
            <a:lvl8pPr marL="3657600" marR="0" lvl="7" indent="-317500" algn="l" rtl="0">
              <a:lnSpc>
                <a:spcPct val="115000"/>
              </a:lnSpc>
              <a:spcBef>
                <a:spcPts val="100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8pPr>
            <a:lvl9pPr marL="4114800" marR="0" lvl="8" indent="-317500" algn="l" rtl="0">
              <a:lnSpc>
                <a:spcPct val="115000"/>
              </a:lnSpc>
              <a:spcBef>
                <a:spcPts val="1000"/>
              </a:spcBef>
              <a:spcAft>
                <a:spcPts val="100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9pPr>
          </a:lstStyle>
          <a:p>
            <a:pPr marL="114300" indent="0">
              <a:spcBef>
                <a:spcPts val="1000"/>
              </a:spcBef>
              <a:buNone/>
            </a:pPr>
            <a:endParaRPr lang="en-GB" sz="1200" dirty="0"/>
          </a:p>
        </p:txBody>
      </p:sp>
    </p:spTree>
    <p:extLst>
      <p:ext uri="{BB962C8B-B14F-4D97-AF65-F5344CB8AC3E}">
        <p14:creationId xmlns:p14="http://schemas.microsoft.com/office/powerpoint/2010/main" val="1887875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4"/>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fontScale="90000"/>
          </a:bodyPr>
          <a:lstStyle/>
          <a:p>
            <a:r>
              <a:rPr lang="en-GB" dirty="0"/>
              <a:t>My solution allows to connect via external API interface</a:t>
            </a:r>
          </a:p>
        </p:txBody>
      </p:sp>
      <p:sp>
        <p:nvSpPr>
          <p:cNvPr id="466" name="Google Shape;466;p44"/>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12</a:t>
            </a:fld>
            <a:endParaRPr/>
          </a:p>
        </p:txBody>
      </p:sp>
      <p:pic>
        <p:nvPicPr>
          <p:cNvPr id="6" name="Google Shape;94;p18">
            <a:extLst>
              <a:ext uri="{FF2B5EF4-FFF2-40B4-BE49-F238E27FC236}">
                <a16:creationId xmlns:a16="http://schemas.microsoft.com/office/drawing/2014/main" id="{0928E914-1419-6588-58D6-16AB9FC3D299}"/>
              </a:ext>
            </a:extLst>
          </p:cNvPr>
          <p:cNvPicPr preferRelativeResize="0"/>
          <p:nvPr/>
        </p:nvPicPr>
        <p:blipFill>
          <a:blip r:embed="rId3">
            <a:alphaModFix/>
          </a:blip>
          <a:stretch>
            <a:fillRect/>
          </a:stretch>
        </p:blipFill>
        <p:spPr>
          <a:xfrm>
            <a:off x="2009515" y="1230493"/>
            <a:ext cx="5124969" cy="3308406"/>
          </a:xfrm>
          <a:prstGeom prst="rect">
            <a:avLst/>
          </a:prstGeom>
          <a:noFill/>
          <a:ln>
            <a:noFill/>
          </a:ln>
        </p:spPr>
      </p:pic>
    </p:spTree>
    <p:extLst>
      <p:ext uri="{BB962C8B-B14F-4D97-AF65-F5344CB8AC3E}">
        <p14:creationId xmlns:p14="http://schemas.microsoft.com/office/powerpoint/2010/main" val="1414865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4"/>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fontScale="90000"/>
          </a:bodyPr>
          <a:lstStyle/>
          <a:p>
            <a:r>
              <a:rPr lang="en-GB" dirty="0"/>
              <a:t>My solution allows to </a:t>
            </a:r>
            <a:r>
              <a:rPr lang="en-GB" sz="2800" dirty="0"/>
              <a:t>authenticate users</a:t>
            </a:r>
            <a:endParaRPr lang="en-GB" dirty="0"/>
          </a:p>
        </p:txBody>
      </p:sp>
      <p:sp>
        <p:nvSpPr>
          <p:cNvPr id="466" name="Google Shape;466;p44"/>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13</a:t>
            </a:fld>
            <a:endParaRPr/>
          </a:p>
        </p:txBody>
      </p:sp>
      <p:pic>
        <p:nvPicPr>
          <p:cNvPr id="5122" name="Picture 2" descr="What is authentication? | Cloudflare">
            <a:extLst>
              <a:ext uri="{FF2B5EF4-FFF2-40B4-BE49-F238E27FC236}">
                <a16:creationId xmlns:a16="http://schemas.microsoft.com/office/drawing/2014/main" id="{02E24AEE-DD69-2C13-1C81-3CC85206F8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2074" y="988306"/>
            <a:ext cx="5985632" cy="399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888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40"/>
          <p:cNvSpPr txBox="1">
            <a:spLocks noGrp="1"/>
          </p:cNvSpPr>
          <p:nvPr>
            <p:ph type="title"/>
          </p:nvPr>
        </p:nvSpPr>
        <p:spPr>
          <a:xfrm>
            <a:off x="311700" y="214884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How actually can I do this?</a:t>
            </a:r>
            <a:endParaRPr b="1" dirty="0">
              <a:latin typeface="Assistant"/>
              <a:ea typeface="Assistant"/>
              <a:cs typeface="Assistant"/>
              <a:sym typeface="Assistant"/>
            </a:endParaRPr>
          </a:p>
        </p:txBody>
      </p:sp>
      <p:sp>
        <p:nvSpPr>
          <p:cNvPr id="425" name="Google Shape;425;p40"/>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14</a:t>
            </a:fld>
            <a:endParaRPr/>
          </a:p>
        </p:txBody>
      </p:sp>
      <p:pic>
        <p:nvPicPr>
          <p:cNvPr id="426" name="Google Shape;426;p40"/>
          <p:cNvPicPr preferRelativeResize="0"/>
          <p:nvPr/>
        </p:nvPicPr>
        <p:blipFill>
          <a:blip r:embed="rId3">
            <a:alphaModFix/>
          </a:blip>
          <a:stretch>
            <a:fillRect/>
          </a:stretch>
        </p:blipFill>
        <p:spPr>
          <a:xfrm>
            <a:off x="3504792" y="3834195"/>
            <a:ext cx="2134414" cy="829011"/>
          </a:xfrm>
          <a:prstGeom prst="rect">
            <a:avLst/>
          </a:prstGeom>
          <a:noFill/>
          <a:ln>
            <a:noFill/>
          </a:ln>
        </p:spPr>
      </p:pic>
    </p:spTree>
    <p:extLst>
      <p:ext uri="{BB962C8B-B14F-4D97-AF65-F5344CB8AC3E}">
        <p14:creationId xmlns:p14="http://schemas.microsoft.com/office/powerpoint/2010/main" val="3952454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4" name="Google Shape;604;p55"/>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15</a:t>
            </a:fld>
            <a:endParaRPr/>
          </a:p>
        </p:txBody>
      </p:sp>
      <p:pic>
        <p:nvPicPr>
          <p:cNvPr id="2052" name="Picture 4">
            <a:extLst>
              <a:ext uri="{FF2B5EF4-FFF2-40B4-BE49-F238E27FC236}">
                <a16:creationId xmlns:a16="http://schemas.microsoft.com/office/drawing/2014/main" id="{D43B82C0-D8D6-5BCF-440A-5D11D43AA1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2863" y="748300"/>
            <a:ext cx="3607837" cy="97273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4" descr="GitHub - mjhea0/awesome-fastapi: A curated list of awesome things related  to FastAPI">
            <a:extLst>
              <a:ext uri="{FF2B5EF4-FFF2-40B4-BE49-F238E27FC236}">
                <a16:creationId xmlns:a16="http://schemas.microsoft.com/office/drawing/2014/main" id="{0A36F891-4821-E0F0-F797-D3E4F11600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901" y="796745"/>
            <a:ext cx="2998182" cy="149909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Swagger — Customizando Swagger UI | by Nelson Souza | Medium">
            <a:extLst>
              <a:ext uri="{FF2B5EF4-FFF2-40B4-BE49-F238E27FC236}">
                <a16:creationId xmlns:a16="http://schemas.microsoft.com/office/drawing/2014/main" id="{DC43327B-D35A-9562-F609-1C49D83BEC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7559" y="2158574"/>
            <a:ext cx="3569917" cy="9997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9E56B10F-94E0-867B-928F-74CB2B07360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302" y="2158574"/>
            <a:ext cx="3451878" cy="104761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Pytest - Testmo Integrations">
            <a:extLst>
              <a:ext uri="{FF2B5EF4-FFF2-40B4-BE49-F238E27FC236}">
                <a16:creationId xmlns:a16="http://schemas.microsoft.com/office/drawing/2014/main" id="{25A6DE19-2BCD-BA96-D8D9-EB7997E8AFC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87405" y="3520525"/>
            <a:ext cx="3103672" cy="104748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GitHub - oauthlib/oauthlib: A generic, spec-compliant, thorough  implementation of the OAuth request-signing logic">
            <a:extLst>
              <a:ext uri="{FF2B5EF4-FFF2-40B4-BE49-F238E27FC236}">
                <a16:creationId xmlns:a16="http://schemas.microsoft.com/office/drawing/2014/main" id="{9984293F-5521-EE3B-14F8-3FB4B19CB79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22863" y="3688342"/>
            <a:ext cx="3207138" cy="87967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50"/>
          <p:cNvSpPr txBox="1">
            <a:spLocks noGrp="1"/>
          </p:cNvSpPr>
          <p:nvPr>
            <p:ph type="title"/>
          </p:nvPr>
        </p:nvSpPr>
        <p:spPr>
          <a:xfrm>
            <a:off x="311700" y="342900"/>
            <a:ext cx="8147100" cy="572700"/>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dirty="0"/>
              <a:t>Roadmap</a:t>
            </a:r>
            <a:endParaRPr b="1" dirty="0">
              <a:latin typeface="Assistant"/>
              <a:ea typeface="Assistant"/>
              <a:cs typeface="Assistant"/>
              <a:sym typeface="Assistant"/>
            </a:endParaRPr>
          </a:p>
        </p:txBody>
      </p:sp>
      <p:sp>
        <p:nvSpPr>
          <p:cNvPr id="528" name="Google Shape;528;p50"/>
          <p:cNvSpPr txBox="1">
            <a:spLocks noGrp="1"/>
          </p:cNvSpPr>
          <p:nvPr>
            <p:ph type="body" idx="1"/>
          </p:nvPr>
        </p:nvSpPr>
        <p:spPr>
          <a:xfrm>
            <a:off x="169107" y="1029952"/>
            <a:ext cx="1939131" cy="18625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t>User interface</a:t>
            </a:r>
          </a:p>
          <a:p>
            <a:pPr marL="139700" lvl="0" indent="0" algn="l" rtl="0">
              <a:spcBef>
                <a:spcPts val="1000"/>
              </a:spcBef>
              <a:spcAft>
                <a:spcPts val="0"/>
              </a:spcAft>
              <a:buSzPts val="1400"/>
              <a:buNone/>
            </a:pPr>
            <a:endParaRPr lang="en-US" dirty="0"/>
          </a:p>
          <a:p>
            <a:pPr marL="139700" lvl="0" indent="0" algn="l" rtl="0">
              <a:spcBef>
                <a:spcPts val="1000"/>
              </a:spcBef>
              <a:spcAft>
                <a:spcPts val="0"/>
              </a:spcAft>
              <a:buSzPts val="1400"/>
              <a:buNone/>
            </a:pPr>
            <a:r>
              <a:rPr lang="en-US" dirty="0"/>
              <a:t>Friendly Web-interface </a:t>
            </a:r>
          </a:p>
          <a:p>
            <a:pPr marL="139700" lvl="0" indent="0" algn="l" rtl="0">
              <a:spcBef>
                <a:spcPts val="1000"/>
              </a:spcBef>
              <a:spcAft>
                <a:spcPts val="0"/>
              </a:spcAft>
              <a:buSzPts val="1400"/>
              <a:buNone/>
            </a:pPr>
            <a:r>
              <a:rPr lang="en-US" dirty="0"/>
              <a:t>(front end)</a:t>
            </a:r>
          </a:p>
        </p:txBody>
      </p:sp>
      <p:sp>
        <p:nvSpPr>
          <p:cNvPr id="530" name="Google Shape;530;p50"/>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16</a:t>
            </a:fld>
            <a:endParaRPr/>
          </a:p>
        </p:txBody>
      </p:sp>
      <p:sp>
        <p:nvSpPr>
          <p:cNvPr id="531" name="Google Shape;531;p50"/>
          <p:cNvSpPr txBox="1">
            <a:spLocks noGrp="1"/>
          </p:cNvSpPr>
          <p:nvPr>
            <p:ph type="body" idx="3"/>
          </p:nvPr>
        </p:nvSpPr>
        <p:spPr>
          <a:xfrm>
            <a:off x="4487025" y="1036618"/>
            <a:ext cx="2150146" cy="3711744"/>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t>Users &amp; roles </a:t>
            </a:r>
          </a:p>
          <a:p>
            <a:pPr marL="0" lvl="0" indent="0" algn="l" rtl="0">
              <a:spcBef>
                <a:spcPts val="0"/>
              </a:spcBef>
              <a:spcAft>
                <a:spcPts val="0"/>
              </a:spcAft>
              <a:buNone/>
            </a:pPr>
            <a:endParaRPr lang="en-GB" b="1" dirty="0"/>
          </a:p>
          <a:p>
            <a:pPr>
              <a:spcBef>
                <a:spcPts val="1000"/>
              </a:spcBef>
            </a:pPr>
            <a:r>
              <a:rPr lang="en-GB" dirty="0"/>
              <a:t>Access for different roles </a:t>
            </a:r>
          </a:p>
          <a:p>
            <a:pPr marL="457200" lvl="0" indent="-317500" algn="l" rtl="0">
              <a:spcBef>
                <a:spcPts val="1000"/>
              </a:spcBef>
              <a:spcAft>
                <a:spcPts val="0"/>
              </a:spcAft>
              <a:buSzPts val="1400"/>
              <a:buChar char="●"/>
            </a:pPr>
            <a:r>
              <a:rPr lang="en-GB" dirty="0"/>
              <a:t>Separate access to each section </a:t>
            </a:r>
          </a:p>
          <a:p>
            <a:pPr marL="457200" lvl="0" indent="-317500" algn="l" rtl="0">
              <a:spcBef>
                <a:spcPts val="1000"/>
              </a:spcBef>
              <a:spcAft>
                <a:spcPts val="0"/>
              </a:spcAft>
              <a:buSzPts val="1400"/>
              <a:buChar char="●"/>
            </a:pPr>
            <a:r>
              <a:rPr lang="en-GB" dirty="0"/>
              <a:t>Separate access to each operation</a:t>
            </a:r>
          </a:p>
        </p:txBody>
      </p:sp>
      <p:sp>
        <p:nvSpPr>
          <p:cNvPr id="2" name="Google Shape;528;p50">
            <a:extLst>
              <a:ext uri="{FF2B5EF4-FFF2-40B4-BE49-F238E27FC236}">
                <a16:creationId xmlns:a16="http://schemas.microsoft.com/office/drawing/2014/main" id="{86201A4D-70A2-CAF6-BAFD-24D25E7E241E}"/>
              </a:ext>
            </a:extLst>
          </p:cNvPr>
          <p:cNvSpPr txBox="1">
            <a:spLocks/>
          </p:cNvSpPr>
          <p:nvPr/>
        </p:nvSpPr>
        <p:spPr>
          <a:xfrm>
            <a:off x="2257728" y="1029952"/>
            <a:ext cx="2079807" cy="3711745"/>
          </a:xfrm>
          <a:prstGeom prst="rect">
            <a:avLst/>
          </a:prstGeom>
          <a:solidFill>
            <a:schemeClr val="accent3"/>
          </a:solid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1pPr>
            <a:lvl2pPr marL="914400" marR="0" lvl="1"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2pPr>
            <a:lvl3pPr marL="1371600" marR="0" lvl="2"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3pPr>
            <a:lvl4pPr marL="1828800" marR="0" lvl="3"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4pPr>
            <a:lvl5pPr marL="2286000" marR="0" lvl="4"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5pPr>
            <a:lvl6pPr marL="2743200" marR="0" lvl="5"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6pPr>
            <a:lvl7pPr marL="3200400" marR="0" lvl="6"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7pPr>
            <a:lvl8pPr marL="3657600" marR="0" lvl="7"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8pPr>
            <a:lvl9pPr marL="4114800" marR="0" lvl="8" indent="-304800" algn="l" rtl="0">
              <a:lnSpc>
                <a:spcPct val="115000"/>
              </a:lnSpc>
              <a:spcBef>
                <a:spcPts val="1000"/>
              </a:spcBef>
              <a:spcAft>
                <a:spcPts val="100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9pPr>
          </a:lstStyle>
          <a:p>
            <a:pPr marL="0" lvl="0" indent="0" algn="l" rtl="0">
              <a:spcBef>
                <a:spcPts val="0"/>
              </a:spcBef>
              <a:spcAft>
                <a:spcPts val="0"/>
              </a:spcAft>
              <a:buClr>
                <a:schemeClr val="dk1"/>
              </a:buClr>
              <a:buSzPts val="1100"/>
              <a:buFont typeface="Arial"/>
              <a:buNone/>
            </a:pPr>
            <a:r>
              <a:rPr lang="en-GB" b="1" dirty="0"/>
              <a:t>Lead's data</a:t>
            </a:r>
          </a:p>
          <a:p>
            <a:pPr marL="0" indent="0">
              <a:buFont typeface="Assistant"/>
              <a:buNone/>
            </a:pPr>
            <a:endParaRPr lang="en-GB" b="1" dirty="0"/>
          </a:p>
          <a:p>
            <a:pPr marL="457200" lvl="0" indent="-317500" algn="l" rtl="0">
              <a:spcBef>
                <a:spcPts val="1000"/>
              </a:spcBef>
              <a:spcAft>
                <a:spcPts val="0"/>
              </a:spcAft>
              <a:buSzPts val="1400"/>
              <a:buChar char="●"/>
            </a:pPr>
            <a:r>
              <a:rPr lang="en-GB" dirty="0"/>
              <a:t>Hold lead's databases</a:t>
            </a:r>
          </a:p>
          <a:p>
            <a:pPr marL="457200" lvl="0" indent="-317500" algn="l" rtl="0">
              <a:spcBef>
                <a:spcPts val="1000"/>
              </a:spcBef>
              <a:spcAft>
                <a:spcPts val="0"/>
              </a:spcAft>
              <a:buSzPts val="1400"/>
              <a:buChar char="●"/>
            </a:pPr>
            <a:r>
              <a:rPr lang="en-GB" dirty="0"/>
              <a:t>Import lead's data from the CSV-file</a:t>
            </a:r>
          </a:p>
          <a:p>
            <a:pPr marL="457200" lvl="0" indent="-317500" algn="l" rtl="0">
              <a:spcBef>
                <a:spcPts val="1000"/>
              </a:spcBef>
              <a:spcAft>
                <a:spcPts val="0"/>
              </a:spcAft>
              <a:buSzPts val="1400"/>
              <a:buChar char="●"/>
            </a:pPr>
            <a:r>
              <a:rPr lang="en-GB" dirty="0"/>
              <a:t>Export lead's data in the CSV-file</a:t>
            </a:r>
          </a:p>
        </p:txBody>
      </p:sp>
      <p:pic>
        <p:nvPicPr>
          <p:cNvPr id="3" name="Google Shape;288;p31">
            <a:extLst>
              <a:ext uri="{FF2B5EF4-FFF2-40B4-BE49-F238E27FC236}">
                <a16:creationId xmlns:a16="http://schemas.microsoft.com/office/drawing/2014/main" id="{B548B841-7D18-B887-1986-6A7D037E838E}"/>
              </a:ext>
            </a:extLst>
          </p:cNvPr>
          <p:cNvPicPr preferRelativeResize="0"/>
          <p:nvPr/>
        </p:nvPicPr>
        <p:blipFill>
          <a:blip r:embed="rId3">
            <a:alphaModFix/>
          </a:blip>
          <a:stretch>
            <a:fillRect/>
          </a:stretch>
        </p:blipFill>
        <p:spPr>
          <a:xfrm>
            <a:off x="1570078" y="2413020"/>
            <a:ext cx="423473" cy="423474"/>
          </a:xfrm>
          <a:prstGeom prst="rect">
            <a:avLst/>
          </a:prstGeom>
          <a:noFill/>
          <a:ln>
            <a:noFill/>
          </a:ln>
        </p:spPr>
      </p:pic>
      <p:sp>
        <p:nvSpPr>
          <p:cNvPr id="6" name="Google Shape;529;p50">
            <a:extLst>
              <a:ext uri="{FF2B5EF4-FFF2-40B4-BE49-F238E27FC236}">
                <a16:creationId xmlns:a16="http://schemas.microsoft.com/office/drawing/2014/main" id="{2FD28C98-E84B-E3C3-132F-31847E38A7AF}"/>
              </a:ext>
            </a:extLst>
          </p:cNvPr>
          <p:cNvSpPr txBox="1">
            <a:spLocks/>
          </p:cNvSpPr>
          <p:nvPr/>
        </p:nvSpPr>
        <p:spPr>
          <a:xfrm>
            <a:off x="6786661" y="3006842"/>
            <a:ext cx="2079807" cy="1734855"/>
          </a:xfrm>
          <a:prstGeom prst="rect">
            <a:avLst/>
          </a:prstGeom>
          <a:solidFill>
            <a:schemeClr val="accent3"/>
          </a:solid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1pPr>
            <a:lvl2pPr marL="914400" marR="0" lvl="1"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2pPr>
            <a:lvl3pPr marL="1371600" marR="0" lvl="2"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3pPr>
            <a:lvl4pPr marL="1828800" marR="0" lvl="3"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4pPr>
            <a:lvl5pPr marL="2286000" marR="0" lvl="4"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5pPr>
            <a:lvl6pPr marL="2743200" marR="0" lvl="5"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6pPr>
            <a:lvl7pPr marL="3200400" marR="0" lvl="6"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7pPr>
            <a:lvl8pPr marL="3657600" marR="0" lvl="7"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8pPr>
            <a:lvl9pPr marL="4114800" marR="0" lvl="8" indent="-304800" algn="l" rtl="0">
              <a:lnSpc>
                <a:spcPct val="115000"/>
              </a:lnSpc>
              <a:spcBef>
                <a:spcPts val="1000"/>
              </a:spcBef>
              <a:spcAft>
                <a:spcPts val="100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9pPr>
          </a:lstStyle>
          <a:p>
            <a:pPr marL="0" indent="0">
              <a:buFont typeface="Assistant"/>
              <a:buNone/>
            </a:pPr>
            <a:r>
              <a:rPr lang="en-GB" b="1" dirty="0"/>
              <a:t>Input data mask</a:t>
            </a:r>
            <a:endParaRPr lang="ru-RU" b="1" dirty="0"/>
          </a:p>
          <a:p>
            <a:pPr>
              <a:spcBef>
                <a:spcPts val="1000"/>
              </a:spcBef>
            </a:pPr>
            <a:r>
              <a:rPr lang="en-GB" dirty="0"/>
              <a:t>Format of a phone number</a:t>
            </a:r>
          </a:p>
          <a:p>
            <a:pPr>
              <a:spcBef>
                <a:spcPts val="1000"/>
              </a:spcBef>
            </a:pPr>
            <a:r>
              <a:rPr lang="en-GB" dirty="0"/>
              <a:t>Format of an E-mail</a:t>
            </a:r>
          </a:p>
        </p:txBody>
      </p:sp>
      <p:pic>
        <p:nvPicPr>
          <p:cNvPr id="533" name="Google Shape;533;p50"/>
          <p:cNvPicPr preferRelativeResize="0"/>
          <p:nvPr/>
        </p:nvPicPr>
        <p:blipFill>
          <a:blip r:embed="rId4">
            <a:alphaModFix/>
          </a:blip>
          <a:stretch>
            <a:fillRect/>
          </a:stretch>
        </p:blipFill>
        <p:spPr>
          <a:xfrm>
            <a:off x="5980853" y="4179166"/>
            <a:ext cx="535333" cy="423474"/>
          </a:xfrm>
          <a:prstGeom prst="rect">
            <a:avLst/>
          </a:prstGeom>
          <a:noFill/>
          <a:ln>
            <a:noFill/>
          </a:ln>
        </p:spPr>
      </p:pic>
      <p:pic>
        <p:nvPicPr>
          <p:cNvPr id="7" name="Google Shape;292;p31">
            <a:extLst>
              <a:ext uri="{FF2B5EF4-FFF2-40B4-BE49-F238E27FC236}">
                <a16:creationId xmlns:a16="http://schemas.microsoft.com/office/drawing/2014/main" id="{FF2243E5-5FDB-841C-71B9-1E96FA309BD0}"/>
              </a:ext>
            </a:extLst>
          </p:cNvPr>
          <p:cNvPicPr preferRelativeResize="0"/>
          <p:nvPr/>
        </p:nvPicPr>
        <p:blipFill>
          <a:blip r:embed="rId5">
            <a:alphaModFix/>
          </a:blip>
          <a:stretch>
            <a:fillRect/>
          </a:stretch>
        </p:blipFill>
        <p:spPr>
          <a:xfrm>
            <a:off x="3811400" y="4144832"/>
            <a:ext cx="423473" cy="423474"/>
          </a:xfrm>
          <a:prstGeom prst="rect">
            <a:avLst/>
          </a:prstGeom>
          <a:noFill/>
          <a:ln>
            <a:noFill/>
          </a:ln>
        </p:spPr>
      </p:pic>
      <p:sp>
        <p:nvSpPr>
          <p:cNvPr id="11" name="Google Shape;529;p50">
            <a:extLst>
              <a:ext uri="{FF2B5EF4-FFF2-40B4-BE49-F238E27FC236}">
                <a16:creationId xmlns:a16="http://schemas.microsoft.com/office/drawing/2014/main" id="{FD4DFC40-2EC4-2B44-4C07-985487A2A450}"/>
              </a:ext>
            </a:extLst>
          </p:cNvPr>
          <p:cNvSpPr txBox="1">
            <a:spLocks/>
          </p:cNvSpPr>
          <p:nvPr/>
        </p:nvSpPr>
        <p:spPr>
          <a:xfrm>
            <a:off x="6786661" y="1028462"/>
            <a:ext cx="2079807" cy="1808032"/>
          </a:xfrm>
          <a:prstGeom prst="rect">
            <a:avLst/>
          </a:prstGeom>
          <a:solidFill>
            <a:schemeClr val="accent3"/>
          </a:solid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1pPr>
            <a:lvl2pPr marL="914400" marR="0" lvl="1"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2pPr>
            <a:lvl3pPr marL="1371600" marR="0" lvl="2"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3pPr>
            <a:lvl4pPr marL="1828800" marR="0" lvl="3"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4pPr>
            <a:lvl5pPr marL="2286000" marR="0" lvl="4"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5pPr>
            <a:lvl6pPr marL="2743200" marR="0" lvl="5"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6pPr>
            <a:lvl7pPr marL="3200400" marR="0" lvl="6"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7pPr>
            <a:lvl8pPr marL="3657600" marR="0" lvl="7"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8pPr>
            <a:lvl9pPr marL="4114800" marR="0" lvl="8" indent="-304800" algn="l" rtl="0">
              <a:lnSpc>
                <a:spcPct val="115000"/>
              </a:lnSpc>
              <a:spcBef>
                <a:spcPts val="1000"/>
              </a:spcBef>
              <a:spcAft>
                <a:spcPts val="100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9pPr>
          </a:lstStyle>
          <a:p>
            <a:pPr marL="0" indent="0">
              <a:buFont typeface="Assistant"/>
              <a:buNone/>
            </a:pPr>
            <a:r>
              <a:rPr lang="en-GB" b="1" dirty="0"/>
              <a:t>E-mail</a:t>
            </a:r>
            <a:endParaRPr lang="en-GB" dirty="0"/>
          </a:p>
          <a:p>
            <a:pPr>
              <a:spcBef>
                <a:spcPts val="1000"/>
              </a:spcBef>
            </a:pPr>
            <a:r>
              <a:rPr lang="en-GB" dirty="0"/>
              <a:t>Send the message via our own SMTP server</a:t>
            </a:r>
          </a:p>
        </p:txBody>
      </p:sp>
      <p:pic>
        <p:nvPicPr>
          <p:cNvPr id="12" name="Google Shape;310;p31">
            <a:extLst>
              <a:ext uri="{FF2B5EF4-FFF2-40B4-BE49-F238E27FC236}">
                <a16:creationId xmlns:a16="http://schemas.microsoft.com/office/drawing/2014/main" id="{13C862C1-BD39-5B0A-204E-E785CB751C9A}"/>
              </a:ext>
            </a:extLst>
          </p:cNvPr>
          <p:cNvPicPr preferRelativeResize="0"/>
          <p:nvPr/>
        </p:nvPicPr>
        <p:blipFill>
          <a:blip r:embed="rId6">
            <a:alphaModFix/>
          </a:blip>
          <a:stretch>
            <a:fillRect/>
          </a:stretch>
        </p:blipFill>
        <p:spPr>
          <a:xfrm>
            <a:off x="8376892" y="2413020"/>
            <a:ext cx="272571" cy="274320"/>
          </a:xfrm>
          <a:prstGeom prst="rect">
            <a:avLst/>
          </a:prstGeom>
          <a:noFill/>
          <a:ln>
            <a:noFill/>
          </a:ln>
        </p:spPr>
      </p:pic>
      <p:sp>
        <p:nvSpPr>
          <p:cNvPr id="4" name="Google Shape;529;p50">
            <a:extLst>
              <a:ext uri="{FF2B5EF4-FFF2-40B4-BE49-F238E27FC236}">
                <a16:creationId xmlns:a16="http://schemas.microsoft.com/office/drawing/2014/main" id="{11BEB4D8-4EFF-085E-33D9-91DB366A5141}"/>
              </a:ext>
            </a:extLst>
          </p:cNvPr>
          <p:cNvSpPr txBox="1">
            <a:spLocks/>
          </p:cNvSpPr>
          <p:nvPr/>
        </p:nvSpPr>
        <p:spPr>
          <a:xfrm>
            <a:off x="169107" y="3065745"/>
            <a:ext cx="1939131" cy="1682617"/>
          </a:xfrm>
          <a:prstGeom prst="rect">
            <a:avLst/>
          </a:prstGeom>
          <a:solidFill>
            <a:schemeClr val="accent3"/>
          </a:solid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ssistant"/>
              <a:buChar char="●"/>
              <a:defRPr sz="1400" b="0" i="0" u="none" strike="noStrike" cap="none">
                <a:solidFill>
                  <a:schemeClr val="dk1"/>
                </a:solidFill>
                <a:latin typeface="Assistant"/>
                <a:ea typeface="Assistant"/>
                <a:cs typeface="Assistant"/>
                <a:sym typeface="Assistant"/>
              </a:defRPr>
            </a:lvl1pPr>
            <a:lvl2pPr marL="914400" marR="0" lvl="1"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2pPr>
            <a:lvl3pPr marL="1371600" marR="0" lvl="2"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3pPr>
            <a:lvl4pPr marL="1828800" marR="0" lvl="3"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4pPr>
            <a:lvl5pPr marL="2286000" marR="0" lvl="4"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5pPr>
            <a:lvl6pPr marL="2743200" marR="0" lvl="5"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6pPr>
            <a:lvl7pPr marL="3200400" marR="0" lvl="6"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7pPr>
            <a:lvl8pPr marL="3657600" marR="0" lvl="7" indent="-304800" algn="l" rtl="0">
              <a:lnSpc>
                <a:spcPct val="115000"/>
              </a:lnSpc>
              <a:spcBef>
                <a:spcPts val="1000"/>
              </a:spcBef>
              <a:spcAft>
                <a:spcPts val="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8pPr>
            <a:lvl9pPr marL="4114800" marR="0" lvl="8" indent="-304800" algn="l" rtl="0">
              <a:lnSpc>
                <a:spcPct val="115000"/>
              </a:lnSpc>
              <a:spcBef>
                <a:spcPts val="1000"/>
              </a:spcBef>
              <a:spcAft>
                <a:spcPts val="1000"/>
              </a:spcAft>
              <a:buClr>
                <a:schemeClr val="dk1"/>
              </a:buClr>
              <a:buSzPts val="1200"/>
              <a:buFont typeface="Assistant"/>
              <a:buChar char="■"/>
              <a:defRPr sz="1200" b="0" i="0" u="none" strike="noStrike" cap="none">
                <a:solidFill>
                  <a:schemeClr val="dk1"/>
                </a:solidFill>
                <a:latin typeface="Assistant"/>
                <a:ea typeface="Assistant"/>
                <a:cs typeface="Assistant"/>
                <a:sym typeface="Assistant"/>
              </a:defRPr>
            </a:lvl9pPr>
          </a:lstStyle>
          <a:p>
            <a:pPr marL="0" indent="0">
              <a:buFont typeface="Assistant"/>
              <a:buNone/>
            </a:pPr>
            <a:r>
              <a:rPr lang="en-US" b="1" dirty="0"/>
              <a:t>Host in Cloud</a:t>
            </a:r>
          </a:p>
          <a:p>
            <a:pPr marL="0" indent="0">
              <a:buFont typeface="Assistant"/>
              <a:buNone/>
            </a:pPr>
            <a:endParaRPr lang="en-US" b="1" dirty="0"/>
          </a:p>
          <a:p>
            <a:pPr marL="0" indent="0">
              <a:buFont typeface="Assistant"/>
              <a:buNone/>
            </a:pPr>
            <a:r>
              <a:rPr lang="en-US" dirty="0"/>
              <a:t>To use system without its own servers and system administrators</a:t>
            </a:r>
            <a:endParaRPr lang="ru-RU"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62"/>
          <p:cNvSpPr txBox="1">
            <a:spLocks noGrp="1"/>
          </p:cNvSpPr>
          <p:nvPr>
            <p:ph type="sldNum" idx="12"/>
          </p:nvPr>
        </p:nvSpPr>
        <p:spPr>
          <a:xfrm>
            <a:off x="8466613" y="4762672"/>
            <a:ext cx="365700" cy="274200"/>
          </a:xfrm>
          <a:prstGeom prst="rect">
            <a:avLst/>
          </a:prstGeom>
        </p:spPr>
        <p:txBody>
          <a:bodyPr spcFirstLastPara="1" wrap="square" lIns="91425" tIns="91425" rIns="91425" bIns="91425" anchor="ctr" anchorCtr="0">
            <a:normAutofit fontScale="92500" lnSpcReduction="20000"/>
          </a:bodyPr>
          <a:lstStyle/>
          <a:p>
            <a:pPr marL="0" lvl="0" indent="0" algn="r" rtl="0">
              <a:spcBef>
                <a:spcPts val="0"/>
              </a:spcBef>
              <a:spcAft>
                <a:spcPts val="0"/>
              </a:spcAft>
              <a:buNone/>
            </a:pPr>
            <a:fld id="{00000000-1234-1234-1234-123412341234}" type="slidenum">
              <a:rPr lang="en"/>
              <a:t>17</a:t>
            </a:fld>
            <a:endParaRPr/>
          </a:p>
        </p:txBody>
      </p:sp>
      <p:sp>
        <p:nvSpPr>
          <p:cNvPr id="660" name="Google Shape;660;p62"/>
          <p:cNvSpPr txBox="1">
            <a:spLocks noGrp="1"/>
          </p:cNvSpPr>
          <p:nvPr>
            <p:ph type="body" idx="4294967295"/>
          </p:nvPr>
        </p:nvSpPr>
        <p:spPr>
          <a:xfrm>
            <a:off x="2558864" y="2760450"/>
            <a:ext cx="5767500" cy="1455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400" b="1" dirty="0"/>
              <a:t>Contact</a:t>
            </a:r>
            <a:endParaRPr sz="1400" b="1" dirty="0"/>
          </a:p>
          <a:p>
            <a:pPr marL="0" indent="0">
              <a:spcBef>
                <a:spcPts val="1000"/>
              </a:spcBef>
              <a:buNone/>
            </a:pPr>
            <a:r>
              <a:rPr lang="en-US" sz="1400" dirty="0"/>
              <a:t>Dmytro </a:t>
            </a:r>
            <a:r>
              <a:rPr lang="en-US" sz="1400" dirty="0" err="1"/>
              <a:t>Ivashchenko</a:t>
            </a:r>
            <a:br>
              <a:rPr lang="en" sz="1400" dirty="0"/>
            </a:br>
            <a:r>
              <a:rPr lang="en-GB" sz="1400" dirty="0"/>
              <a:t>Student of Back End Development course</a:t>
            </a:r>
            <a:endParaRPr lang="en" sz="1400" dirty="0"/>
          </a:p>
          <a:p>
            <a:pPr marL="0" lvl="0" indent="0" algn="l" rtl="0">
              <a:spcBef>
                <a:spcPts val="1000"/>
              </a:spcBef>
              <a:spcAft>
                <a:spcPts val="0"/>
              </a:spcAft>
              <a:buNone/>
            </a:pPr>
            <a:r>
              <a:rPr lang="en" sz="1400" dirty="0">
                <a:hlinkClick r:id="rId3"/>
              </a:rPr>
              <a:t>dnytsyk@gmail.com</a:t>
            </a:r>
            <a:endParaRPr lang="en" sz="1400" dirty="0"/>
          </a:p>
          <a:p>
            <a:pPr marL="0" lvl="0" indent="0" algn="l" rtl="0">
              <a:spcBef>
                <a:spcPts val="1000"/>
              </a:spcBef>
              <a:spcAft>
                <a:spcPts val="0"/>
              </a:spcAft>
              <a:buNone/>
            </a:pPr>
            <a:endParaRPr lang="en" sz="1400" dirty="0"/>
          </a:p>
        </p:txBody>
      </p:sp>
      <p:pic>
        <p:nvPicPr>
          <p:cNvPr id="661" name="Google Shape;661;p62"/>
          <p:cNvPicPr preferRelativeResize="0"/>
          <p:nvPr/>
        </p:nvPicPr>
        <p:blipFill rotWithShape="1">
          <a:blip r:embed="rId4"/>
          <a:srcRect l="10000" t="8928" r="18571" b="46429"/>
          <a:stretch/>
        </p:blipFill>
        <p:spPr>
          <a:xfrm>
            <a:off x="428450" y="2588400"/>
            <a:ext cx="1800000" cy="1800000"/>
          </a:xfrm>
          <a:prstGeom prst="ellipse">
            <a:avLst/>
          </a:prstGeom>
          <a:noFill/>
          <a:ln w="38100" cap="flat" cmpd="sng">
            <a:solidFill>
              <a:schemeClr val="accent4"/>
            </a:solidFill>
            <a:prstDash val="solid"/>
            <a:round/>
            <a:headEnd type="none" w="sm" len="sm"/>
            <a:tailEnd type="none" w="sm" len="sm"/>
          </a:ln>
        </p:spPr>
      </p:pic>
      <p:sp>
        <p:nvSpPr>
          <p:cNvPr id="662" name="Google Shape;662;p62"/>
          <p:cNvSpPr txBox="1">
            <a:spLocks noGrp="1"/>
          </p:cNvSpPr>
          <p:nvPr>
            <p:ph type="title"/>
          </p:nvPr>
        </p:nvSpPr>
        <p:spPr>
          <a:xfrm>
            <a:off x="311700" y="342900"/>
            <a:ext cx="8100000" cy="20940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Thanks a lot!</a:t>
            </a: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D5D5D"/>
      </a:dk2>
      <a:lt2>
        <a:srgbClr val="DADADA"/>
      </a:lt2>
      <a:accent1>
        <a:srgbClr val="58ADC5"/>
      </a:accent1>
      <a:accent2>
        <a:srgbClr val="8AC6D6"/>
      </a:accent2>
      <a:accent3>
        <a:srgbClr val="CDE6EE"/>
      </a:accent3>
      <a:accent4>
        <a:srgbClr val="EA5B25"/>
      </a:accent4>
      <a:accent5>
        <a:srgbClr val="F08C66"/>
      </a:accent5>
      <a:accent6>
        <a:srgbClr val="F9CEBE"/>
      </a:accent6>
      <a:hlink>
        <a:srgbClr val="58ADC5"/>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2873</TotalTime>
  <Words>1094</Words>
  <Application>Microsoft Macintosh PowerPoint</Application>
  <PresentationFormat>On-screen Show (16:9)</PresentationFormat>
  <Paragraphs>134</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Assistant</vt:lpstr>
      <vt:lpstr>Simple Light</vt:lpstr>
      <vt:lpstr>Data Analytics</vt:lpstr>
      <vt:lpstr>Problems</vt:lpstr>
      <vt:lpstr>Why you chose this project</vt:lpstr>
      <vt:lpstr>Project structure </vt:lpstr>
      <vt:lpstr>Project result </vt:lpstr>
      <vt:lpstr>Difficulties and roadblocks </vt:lpstr>
      <vt:lpstr>Conclusions </vt:lpstr>
      <vt:lpstr>What problems do small businesses often face?</vt:lpstr>
      <vt:lpstr>Decision</vt:lpstr>
      <vt:lpstr>Customer Relationship Management System </vt:lpstr>
      <vt:lpstr>My solution allows to store and management data in the database</vt:lpstr>
      <vt:lpstr>My solution allows to connect via external API interface</vt:lpstr>
      <vt:lpstr>My solution allows to authenticate users</vt:lpstr>
      <vt:lpstr>How actually can I do this?</vt:lpstr>
      <vt:lpstr>PowerPoint Presentation</vt:lpstr>
      <vt:lpstr>Roadmap</vt:lpstr>
      <vt:lpstr>Thanks a lot!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ReDI CRM banking</dc:title>
  <cp:lastModifiedBy>Dmytro I.</cp:lastModifiedBy>
  <cp:revision>45</cp:revision>
  <dcterms:modified xsi:type="dcterms:W3CDTF">2025-11-30T22:53:59Z</dcterms:modified>
</cp:coreProperties>
</file>