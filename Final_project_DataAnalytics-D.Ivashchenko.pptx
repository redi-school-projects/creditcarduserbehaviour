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4"/>
  </p:notesMasterIdLst>
  <p:sldIdLst>
    <p:sldId id="273" r:id="rId2"/>
    <p:sldId id="318" r:id="rId3"/>
    <p:sldId id="268" r:id="rId4"/>
    <p:sldId id="322" r:id="rId5"/>
    <p:sldId id="324" r:id="rId6"/>
    <p:sldId id="320" r:id="rId7"/>
    <p:sldId id="323" r:id="rId8"/>
    <p:sldId id="321" r:id="rId9"/>
    <p:sldId id="269" r:id="rId10"/>
    <p:sldId id="270" r:id="rId11"/>
    <p:sldId id="271" r:id="rId12"/>
    <p:sldId id="297" r:id="rId13"/>
  </p:sldIdLst>
  <p:sldSz cx="9144000" cy="5143500" type="screen16x9"/>
  <p:notesSz cx="6858000" cy="9144000"/>
  <p:embeddedFontLst>
    <p:embeddedFont>
      <p:font typeface="Assistant" pitchFamily="2" charset="-79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5"/>
    <p:restoredTop sz="80658"/>
  </p:normalViewPr>
  <p:slideViewPr>
    <p:cSldViewPr snapToGrid="0">
      <p:cViewPr varScale="1">
        <p:scale>
          <a:sx n="135" d="100"/>
          <a:sy n="135" d="100"/>
        </p:scale>
        <p:origin x="1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b56d264711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b56d264711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D74FB0C1-2043-E6E9-27C7-2613F185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111F1311-F4F2-A8FB-DDD9-BBB099B6F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CAF56DEA-A828-BEB0-DD6B-0DFE027AB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4537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EADD7C66-9F07-7DD8-1735-79B8BEF7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4DCF9E92-824A-CB01-64C2-852C576EE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BE25026C-F433-36FB-6A2E-29260F53D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61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F6ADCBB7-CEDD-85FD-6D69-D801D3B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B5374D3E-5896-187D-3C4F-52DCD6E19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0466A4C7-9EC8-7DEA-7DB7-BA4F9E30B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68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9DE05764-B93A-BCD4-FFC0-88AB0D31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95D9A121-25AE-70C4-4C0E-4ED794775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F1084EBD-597E-8B06-4B7D-2B70BF0EE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85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8D301F02-00AD-FCD3-D0F1-7FD0C649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A4C3EE6E-E037-CBA4-A75B-5F508952B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7CCEE95E-3B6B-C08D-5435-E575B2FA8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Pearson correlation is no correlation between </a:t>
            </a:r>
            <a:r>
              <a:rPr lang="en-GB" dirty="0" err="1"/>
              <a:t>Attrition_Flag</a:t>
            </a:r>
            <a:r>
              <a:rPr lang="en-GB" dirty="0"/>
              <a:t> </a:t>
            </a:r>
            <a:r>
              <a:rPr lang="en-US" dirty="0"/>
              <a:t>and metrics </a:t>
            </a:r>
            <a:r>
              <a:rPr lang="en-GB" dirty="0" err="1"/>
              <a:t>Total_Trans_Ct</a:t>
            </a:r>
            <a:r>
              <a:rPr lang="en-GB" dirty="0"/>
              <a:t> </a:t>
            </a:r>
            <a:r>
              <a:rPr lang="en-US" dirty="0"/>
              <a:t>&amp;</a:t>
            </a:r>
            <a:r>
              <a:rPr lang="ru-RU" dirty="0"/>
              <a:t> </a:t>
            </a:r>
            <a:r>
              <a:rPr lang="en-GB" dirty="0" err="1"/>
              <a:t>Avg_Utilization_Ratio</a:t>
            </a:r>
            <a:r>
              <a:rPr lang="en-GB" dirty="0"/>
              <a:t> because of  non lineal values in </a:t>
            </a:r>
            <a:r>
              <a:rPr lang="en-GB" dirty="0" err="1"/>
              <a:t>Attrition_Flag</a:t>
            </a:r>
            <a:r>
              <a:rPr lang="en-GB" dirty="0"/>
              <a:t>. </a:t>
            </a:r>
            <a:r>
              <a:rPr lang="en-US" dirty="0"/>
              <a:t>That’s why I use </a:t>
            </a:r>
            <a:r>
              <a:rPr lang="en-GB" dirty="0"/>
              <a:t>Box &amp; Violin plot next.</a:t>
            </a:r>
          </a:p>
        </p:txBody>
      </p:sp>
    </p:spTree>
    <p:extLst>
      <p:ext uri="{BB962C8B-B14F-4D97-AF65-F5344CB8AC3E}">
        <p14:creationId xmlns:p14="http://schemas.microsoft.com/office/powerpoint/2010/main" val="834927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B4441D6D-3F85-14FA-4D15-FD63A78C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EFD7A526-0610-3122-F6F3-F6EA7360E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D0493A69-3DED-FE8E-C65D-56EFEFD3A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17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87BB5302-CD38-6A52-D755-A7699CBA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5FE2D91C-F252-B429-C83E-E6511CC69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FB06CE71-34EA-3DEF-9150-92BEB27C3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</a:pPr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48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84149DE9-41E5-4975-FA03-5B8404BD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24A56994-1CB8-2B2A-C693-D9242451A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491635AD-E89D-40E5-35D3-ABF4E7939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659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7BE3BC4A-7F14-2645-55D4-3ABD5759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5FD55A7A-BEC3-17B3-195F-D9C690E26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5AC5B900-DA6F-9A78-F01C-5A65359AC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745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0B20A677-F0D1-A9DD-DC56-C62D3717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>
            <a:extLst>
              <a:ext uri="{FF2B5EF4-FFF2-40B4-BE49-F238E27FC236}">
                <a16:creationId xmlns:a16="http://schemas.microsoft.com/office/drawing/2014/main" id="{09E304E5-F5D2-CDE7-1009-33E6C568A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>
            <a:extLst>
              <a:ext uri="{FF2B5EF4-FFF2-40B4-BE49-F238E27FC236}">
                <a16:creationId xmlns:a16="http://schemas.microsoft.com/office/drawing/2014/main" id="{4BB35EF6-4234-E2EA-46ED-01C589913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970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b647448be2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b647448be2_1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Google Shape;33;p3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37" name="Google Shape;37;p3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" name="Google Shape;38;p3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5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nytsyk@gmail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9838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Analytics</a:t>
            </a:r>
          </a:p>
        </p:txBody>
      </p:sp>
      <p:sp>
        <p:nvSpPr>
          <p:cNvPr id="411" name="Google Shape;411;p38"/>
          <p:cNvSpPr txBox="1">
            <a:spLocks noGrp="1"/>
          </p:cNvSpPr>
          <p:nvPr>
            <p:ph type="subTitle" idx="1"/>
          </p:nvPr>
        </p:nvSpPr>
        <p:spPr>
          <a:xfrm>
            <a:off x="311725" y="2473569"/>
            <a:ext cx="6089100" cy="1338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Final project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Credit Card User Behaviour</a:t>
            </a:r>
            <a:endParaRPr dirty="0"/>
          </a:p>
        </p:txBody>
      </p:sp>
      <p:sp>
        <p:nvSpPr>
          <p:cNvPr id="412" name="Google Shape;412;p38"/>
          <p:cNvSpPr txBox="1"/>
          <p:nvPr/>
        </p:nvSpPr>
        <p:spPr>
          <a:xfrm>
            <a:off x="311687" y="4072325"/>
            <a:ext cx="2953800" cy="763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chemeClr val="accent1"/>
                </a:solidFill>
              </a:rPr>
              <a:t>Dmytro </a:t>
            </a:r>
            <a:r>
              <a:rPr lang="en-GB" sz="1000" b="1" dirty="0" err="1">
                <a:solidFill>
                  <a:schemeClr val="accent1"/>
                </a:solidFill>
              </a:rPr>
              <a:t>Ivashchenko</a:t>
            </a: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1"/>
                </a:solidFill>
              </a:rPr>
              <a:t>Munich 2025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endParaRPr lang="en-US" sz="1000" b="1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13" name="Google Shape;413;p3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7F17092-3506-E219-3E6C-EE0A5C22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B559EB3C-C470-2E4B-F99A-627C53EEEB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45" name="Google Shape;145;p22">
            <a:extLst>
              <a:ext uri="{FF2B5EF4-FFF2-40B4-BE49-F238E27FC236}">
                <a16:creationId xmlns:a16="http://schemas.microsoft.com/office/drawing/2014/main" id="{019461D6-9DA8-78F0-05FD-EB7EAC13FA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BAFFDEFA-71C1-CC26-44CD-7196BB4B45A0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FC6B287B-AD4C-82A5-BDD7-28A8DEB33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5914" y="597447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Why did I choose this project?</a:t>
            </a:r>
            <a:br>
              <a:rPr lang="en" sz="1100" b="0" dirty="0">
                <a:latin typeface="Arial"/>
                <a:ea typeface="Arial"/>
                <a:cs typeface="Arial"/>
                <a:sym typeface="Arial"/>
              </a:rPr>
            </a:br>
            <a:br>
              <a:rPr lang="en" sz="1100" b="0" dirty="0">
                <a:latin typeface="Arial"/>
                <a:ea typeface="Arial"/>
                <a:cs typeface="Arial"/>
                <a:sym typeface="Arial"/>
              </a:rPr>
            </a:b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>
            <a:extLst>
              <a:ext uri="{FF2B5EF4-FFF2-40B4-BE49-F238E27FC236}">
                <a16:creationId xmlns:a16="http://schemas.microsoft.com/office/drawing/2014/main" id="{55EDD639-CDC1-9907-D6F3-7C9D9D026A6D}"/>
              </a:ext>
            </a:extLst>
          </p:cNvPr>
          <p:cNvSpPr txBox="1"/>
          <p:nvPr/>
        </p:nvSpPr>
        <p:spPr>
          <a:xfrm>
            <a:off x="726831" y="1186647"/>
            <a:ext cx="7209692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Project</a:t>
            </a:r>
            <a:r>
              <a:rPr lang="en-GB" sz="1600" dirty="0"/>
              <a:t>: Churn prediction in banking is a real-world problem impacting revenue.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Idea</a:t>
            </a:r>
            <a:r>
              <a:rPr lang="en-GB" sz="1600" dirty="0"/>
              <a:t>: Combines domain knowledge from banking with practical data analysis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Dataset</a:t>
            </a:r>
            <a:r>
              <a:rPr lang="en-GB" sz="1600" dirty="0"/>
              <a:t>: has rich customer info: demographics, transaction history, credit limits.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Dataset</a:t>
            </a:r>
            <a:r>
              <a:rPr lang="en-GB" sz="1600" dirty="0"/>
              <a:t>: allows exploration of preprocessing, feature engineering, visualization, and predictive modelling.</a:t>
            </a:r>
          </a:p>
        </p:txBody>
      </p:sp>
    </p:spTree>
    <p:extLst>
      <p:ext uri="{BB962C8B-B14F-4D97-AF65-F5344CB8AC3E}">
        <p14:creationId xmlns:p14="http://schemas.microsoft.com/office/powerpoint/2010/main" val="95382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5E5380F-3EC6-07F2-4AFE-C0C53BE0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D0BA4A06-CB97-D517-69E2-DC7D8AAA8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FB74831E-27A4-1895-45EE-55911B26BC3D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CA30B7C4-82DA-F03A-E9C0-9EE14247E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244" y="577144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  <a:cs typeface="Assistant" pitchFamily="2" charset="-79"/>
              </a:rPr>
              <a:t>Project structure</a:t>
            </a:r>
            <a:endParaRPr sz="13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>
            <a:extLst>
              <a:ext uri="{FF2B5EF4-FFF2-40B4-BE49-F238E27FC236}">
                <a16:creationId xmlns:a16="http://schemas.microsoft.com/office/drawing/2014/main" id="{EB6282E3-BE94-D90B-2236-05C5D09A9028}"/>
              </a:ext>
            </a:extLst>
          </p:cNvPr>
          <p:cNvSpPr txBox="1"/>
          <p:nvPr/>
        </p:nvSpPr>
        <p:spPr>
          <a:xfrm>
            <a:off x="802230" y="1021392"/>
            <a:ext cx="5991762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+mn-lt"/>
              </a:rPr>
              <a:t>1. </a:t>
            </a:r>
            <a:r>
              <a:rPr lang="en-GB" sz="1600" dirty="0">
                <a:solidFill>
                  <a:schemeClr val="tx1"/>
                </a:solidFill>
                <a:effectLst/>
                <a:latin typeface="+mn-lt"/>
              </a:rPr>
              <a:t>Problem Statement and Dataset Selection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2. </a:t>
            </a:r>
            <a:r>
              <a:rPr lang="en-GB" sz="1600" dirty="0">
                <a:solidFill>
                  <a:schemeClr val="tx1"/>
                </a:solidFill>
                <a:effectLst/>
                <a:latin typeface="+mn-lt"/>
              </a:rPr>
              <a:t>Data Cleaning &amp;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Data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Data Type Conversion</a:t>
            </a:r>
            <a:endParaRPr lang="en-GB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Outlier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Working with Categorical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Feature Engineering</a:t>
            </a: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sz="1600" dirty="0">
                <a:solidFill>
                  <a:schemeClr val="tx1"/>
                </a:solidFill>
                <a:effectLst/>
                <a:latin typeface="+mn-lt"/>
              </a:rPr>
              <a:t>3. Exploratory Data Analysis (EDA)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General understanding of the data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Statistics on key features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Visualizations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</a:rPr>
              <a:t>Interpretation of identified patterns</a:t>
            </a:r>
            <a:endParaRPr lang="ru-RU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GB" sz="1600" dirty="0">
                <a:solidFill>
                  <a:schemeClr val="tx1"/>
                </a:solidFill>
                <a:effectLst/>
                <a:latin typeface="+mn-lt"/>
              </a:rPr>
              <a:t>4. Ethical Considerations &amp; Limitations</a:t>
            </a:r>
          </a:p>
        </p:txBody>
      </p:sp>
      <p:pic>
        <p:nvPicPr>
          <p:cNvPr id="2" name="Google Shape;342;p31">
            <a:extLst>
              <a:ext uri="{FF2B5EF4-FFF2-40B4-BE49-F238E27FC236}">
                <a16:creationId xmlns:a16="http://schemas.microsoft.com/office/drawing/2014/main" id="{310DB476-F495-137D-83F4-4D7C10BAFC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238" y="2775749"/>
            <a:ext cx="1811075" cy="19227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81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AB6C217D-1F2D-9622-3783-B2AFBC9F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7BAF16-5FC9-B731-C5FE-D764219928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463F3E47-865B-E4A2-1AFD-4718D992F505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F8AA02B9-FE2D-0505-3FFF-A85E4BA1E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244" y="577144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  <a:cs typeface="Assistant" pitchFamily="2" charset="-79"/>
              </a:rPr>
              <a:t>Project structure</a:t>
            </a:r>
            <a:endParaRPr sz="13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CACF63-0377-0A82-0EC9-C91FCC9D8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17" y="391131"/>
            <a:ext cx="6279647" cy="42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6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D997F05A-6F2A-0007-BB9D-75CAA034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97484126-FC3F-CD2F-9BBF-1FC67B40A5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A0E1C35B-1D2D-53EF-5CDC-4FDB11F3988E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260BDE07-2034-F0D9-B18F-33420C787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244" y="577144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  <a:cs typeface="Assistant" pitchFamily="2" charset="-79"/>
              </a:rPr>
              <a:t>Project structure</a:t>
            </a:r>
            <a:endParaRPr sz="13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B951CF-432E-6DFE-CAFE-19EC9A98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23" y="348822"/>
            <a:ext cx="5919414" cy="424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98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D9029EC6-AFD6-45CE-EEE0-587E059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D7ED7253-657C-3BB9-4049-72C487A273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9C2E8CF2-9EFC-9557-C64D-DAE0A5B1F167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190F12EF-9C46-092C-80EF-7D042E0F8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244" y="577144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  <a:cs typeface="Assistant" pitchFamily="2" charset="-79"/>
              </a:rPr>
              <a:t>Project structure</a:t>
            </a:r>
            <a:endParaRPr sz="13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BD4261-BABA-FB5D-077D-A8D52E59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87" y="0"/>
            <a:ext cx="61969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8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79118E7B-46CB-3881-CD4F-A9661D76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66A93510-5C44-27A4-F6E3-48ED4CFDFB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0D0F1105-A5F1-F4F6-A79F-EACBA8286B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244" y="577144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  <a:cs typeface="Assistant" pitchFamily="2" charset="-79"/>
              </a:rPr>
              <a:t>Project structure</a:t>
            </a:r>
            <a:endParaRPr sz="13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60968D-F60A-75AA-CF9D-6385AA925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51" y="375862"/>
            <a:ext cx="6523661" cy="419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4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F7C99E0B-9B91-042C-7E9A-D5C27508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4DBAF970-E503-12E2-414D-3C848C797B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7DABF-78B1-F378-CB5C-D853425B1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14" y="348963"/>
            <a:ext cx="5386013" cy="4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9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698AE390-DF3E-BD1E-03AD-B7793A84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8355B984-AC56-8ADE-7A5C-29CE7EDB3A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45" name="Google Shape;145;p22">
            <a:extLst>
              <a:ext uri="{FF2B5EF4-FFF2-40B4-BE49-F238E27FC236}">
                <a16:creationId xmlns:a16="http://schemas.microsoft.com/office/drawing/2014/main" id="{1F212565-937C-F2DD-2BA8-371AD500B2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ED25E503-E880-9022-7DD0-633D0F183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6761" y="586659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solidFill>
                  <a:schemeClr val="accent1"/>
                </a:solidFill>
                <a:effectLst/>
                <a:latin typeface="Assistant" pitchFamily="2" charset="-79"/>
                <a:cs typeface="Assistant" pitchFamily="2" charset="-79"/>
              </a:rPr>
              <a:t>Project result</a:t>
            </a:r>
            <a:endParaRPr sz="1200" dirty="0">
              <a:solidFill>
                <a:schemeClr val="accent1"/>
              </a:solidFill>
            </a:endParaRPr>
          </a:p>
        </p:txBody>
      </p:sp>
      <p:sp>
        <p:nvSpPr>
          <p:cNvPr id="149" name="Google Shape;149;p22">
            <a:extLst>
              <a:ext uri="{FF2B5EF4-FFF2-40B4-BE49-F238E27FC236}">
                <a16:creationId xmlns:a16="http://schemas.microsoft.com/office/drawing/2014/main" id="{F072D9B1-832A-12E3-2AE4-F719C640EBD1}"/>
              </a:ext>
            </a:extLst>
          </p:cNvPr>
          <p:cNvSpPr txBox="1"/>
          <p:nvPr/>
        </p:nvSpPr>
        <p:spPr>
          <a:xfrm>
            <a:off x="535513" y="1371436"/>
            <a:ext cx="768494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/>
              <a:t>Found that churn correlates strongly with transaction activity and utilization ratio.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/>
              <a:t>Identified high-risk customers who are less active or underutilizing credit.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/>
              <a:t>Provides actionable insights for banks: targeted retention campaigns, personalized engagement.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dirty="0"/>
              <a:t>Highlights importance of monitoring low-activity customers to reduce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416368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A6C1ECF0-A37B-5513-EE3F-5213A70E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C6CB3D83-617F-8F69-D801-C1EF96DF61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077EBC09-7448-454B-9208-D7761319F832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9E996814-FBD8-32A7-7AB9-E22AC38B74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5595" y="552518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dirty="0">
                <a:solidFill>
                  <a:schemeClr val="accent1"/>
                </a:solidFill>
                <a:effectLst/>
                <a:latin typeface="Assistant" pitchFamily="2" charset="-79"/>
                <a:cs typeface="Assistant" pitchFamily="2" charset="-79"/>
              </a:rPr>
              <a:t>Difficulties and roadblocks</a:t>
            </a:r>
            <a:endParaRPr lang="en-GB" sz="18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lang="en-GB" sz="256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>
            <a:extLst>
              <a:ext uri="{FF2B5EF4-FFF2-40B4-BE49-F238E27FC236}">
                <a16:creationId xmlns:a16="http://schemas.microsoft.com/office/drawing/2014/main" id="{D00C1BDB-C392-F469-40E5-3C1F94F2772E}"/>
              </a:ext>
            </a:extLst>
          </p:cNvPr>
          <p:cNvSpPr txBox="1"/>
          <p:nvPr/>
        </p:nvSpPr>
        <p:spPr>
          <a:xfrm>
            <a:off x="517372" y="1289635"/>
            <a:ext cx="76890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Dataset was mostly clean → needed to justify preprocessing steps carefully.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Categorical features had potential order ambiguity → resolved using ordinal encoding for </a:t>
            </a:r>
            <a:r>
              <a:rPr lang="en-GB" sz="1600" dirty="0" err="1"/>
              <a:t>Education_Level</a:t>
            </a:r>
            <a:r>
              <a:rPr lang="en-GB" sz="1600" dirty="0"/>
              <a:t> and </a:t>
            </a:r>
            <a:r>
              <a:rPr lang="en-GB" sz="1600" dirty="0" err="1"/>
              <a:t>Income_Category</a:t>
            </a:r>
            <a:r>
              <a:rPr lang="en-GB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Class imbalance (~16% churn) → noted in limitations, suggested stratified sampling and evaluation metrics like ROC-AUC.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Addressed each challenge with methodical, well-documented steps.</a:t>
            </a:r>
          </a:p>
        </p:txBody>
      </p:sp>
      <p:pic>
        <p:nvPicPr>
          <p:cNvPr id="2" name="Google Shape;340;p31">
            <a:extLst>
              <a:ext uri="{FF2B5EF4-FFF2-40B4-BE49-F238E27FC236}">
                <a16:creationId xmlns:a16="http://schemas.microsoft.com/office/drawing/2014/main" id="{4E61053A-00E9-8118-EE7E-081D4B13C9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320" y="3648782"/>
            <a:ext cx="1083308" cy="972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113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DA527363-3B3D-3DDA-32A4-70AB8AAD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D6345F0B-9F91-20B9-D6D1-C50CAFA409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6" name="Google Shape;146;p22">
            <a:extLst>
              <a:ext uri="{FF2B5EF4-FFF2-40B4-BE49-F238E27FC236}">
                <a16:creationId xmlns:a16="http://schemas.microsoft.com/office/drawing/2014/main" id="{BC956100-D120-6E5A-F315-1A9E639F8DE4}"/>
              </a:ext>
            </a:extLst>
          </p:cNvPr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>
            <a:extLst>
              <a:ext uri="{FF2B5EF4-FFF2-40B4-BE49-F238E27FC236}">
                <a16:creationId xmlns:a16="http://schemas.microsoft.com/office/drawing/2014/main" id="{98B9F25F-8F78-70E2-7ACE-AA1DC388FFF2}"/>
              </a:ext>
            </a:extLst>
          </p:cNvPr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>
            <a:extLst>
              <a:ext uri="{FF2B5EF4-FFF2-40B4-BE49-F238E27FC236}">
                <a16:creationId xmlns:a16="http://schemas.microsoft.com/office/drawing/2014/main" id="{0E3A5CC5-1DD4-6521-3903-2BDA37CE5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5633" y="548275"/>
            <a:ext cx="4692259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dirty="0">
                <a:solidFill>
                  <a:schemeClr val="accent1"/>
                </a:solidFill>
                <a:effectLst/>
                <a:latin typeface="Assistant" pitchFamily="2" charset="-79"/>
                <a:cs typeface="Assistant" pitchFamily="2" charset="-79"/>
              </a:rPr>
              <a:t>Conclusions</a:t>
            </a:r>
            <a:endParaRPr lang="en-GB" sz="139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lang="en-GB" sz="256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>
            <a:extLst>
              <a:ext uri="{FF2B5EF4-FFF2-40B4-BE49-F238E27FC236}">
                <a16:creationId xmlns:a16="http://schemas.microsoft.com/office/drawing/2014/main" id="{B590C0AE-B753-1BC3-66FA-3723E45E43D1}"/>
              </a:ext>
            </a:extLst>
          </p:cNvPr>
          <p:cNvSpPr txBox="1"/>
          <p:nvPr/>
        </p:nvSpPr>
        <p:spPr>
          <a:xfrm>
            <a:off x="727500" y="1129975"/>
            <a:ext cx="76890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Include additional features: transaction trends over time, external </a:t>
            </a:r>
            <a:r>
              <a:rPr lang="en-GB" sz="1600" dirty="0" err="1"/>
              <a:t>behavioral</a:t>
            </a:r>
            <a:r>
              <a:rPr lang="en-GB" sz="1600" dirty="0"/>
              <a:t> data, communication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Experiment with advanced predictive models (</a:t>
            </a:r>
            <a:r>
              <a:rPr lang="en-GB" sz="1600" dirty="0" err="1"/>
              <a:t>RandomForest</a:t>
            </a:r>
            <a:r>
              <a:rPr lang="en-GB" sz="1600" dirty="0"/>
              <a:t>, </a:t>
            </a:r>
            <a:r>
              <a:rPr lang="en-GB" sz="1600" dirty="0" err="1"/>
              <a:t>XGBoost</a:t>
            </a:r>
            <a:r>
              <a:rPr lang="en-GB" sz="1600" dirty="0"/>
              <a:t>) and handle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Integrate model in banking dashboards for real-time churn risk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Apply fairness and privacy-aware techniques for ethical, responsible deployment.</a:t>
            </a:r>
          </a:p>
        </p:txBody>
      </p:sp>
      <p:pic>
        <p:nvPicPr>
          <p:cNvPr id="2" name="Google Shape;338;p31">
            <a:extLst>
              <a:ext uri="{FF2B5EF4-FFF2-40B4-BE49-F238E27FC236}">
                <a16:creationId xmlns:a16="http://schemas.microsoft.com/office/drawing/2014/main" id="{4F70190C-0FA6-7452-269B-064E960983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424" y="3051950"/>
            <a:ext cx="1580118" cy="16775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729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660" name="Google Shape;660;p62"/>
          <p:cNvSpPr txBox="1">
            <a:spLocks noGrp="1"/>
          </p:cNvSpPr>
          <p:nvPr>
            <p:ph type="body" idx="4294967295"/>
          </p:nvPr>
        </p:nvSpPr>
        <p:spPr>
          <a:xfrm>
            <a:off x="2558864" y="2760450"/>
            <a:ext cx="5767500" cy="14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Contact</a:t>
            </a:r>
            <a:endParaRPr sz="1400" b="1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dirty="0"/>
              <a:t>Dmytro </a:t>
            </a:r>
            <a:r>
              <a:rPr lang="en-US" sz="1400" dirty="0" err="1"/>
              <a:t>Ivashchenko</a:t>
            </a:r>
            <a:br>
              <a:rPr lang="en" sz="1400" dirty="0"/>
            </a:br>
            <a:r>
              <a:rPr lang="en-GB" sz="1400" dirty="0"/>
              <a:t>Student of Data analytics course</a:t>
            </a:r>
            <a:endParaRPr lang="en" sz="1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 dirty="0">
                <a:hlinkClick r:id="rId3"/>
              </a:rPr>
              <a:t>dnytsyk@gmail.com</a:t>
            </a:r>
            <a:endParaRPr lang="en" sz="1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" sz="1400" dirty="0"/>
          </a:p>
        </p:txBody>
      </p:sp>
      <p:pic>
        <p:nvPicPr>
          <p:cNvPr id="661" name="Google Shape;661;p62"/>
          <p:cNvPicPr preferRelativeResize="0"/>
          <p:nvPr/>
        </p:nvPicPr>
        <p:blipFill rotWithShape="1">
          <a:blip r:embed="rId4"/>
          <a:srcRect l="10000" t="8928" r="18571" b="46429"/>
          <a:stretch/>
        </p:blipFill>
        <p:spPr>
          <a:xfrm>
            <a:off x="428450" y="2588400"/>
            <a:ext cx="1800000" cy="1800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2" name="Google Shape;662;p6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a lot!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3278</TotalTime>
  <Words>389</Words>
  <Application>Microsoft Macintosh PowerPoint</Application>
  <PresentationFormat>On-screen Show (16:9)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Assistant</vt:lpstr>
      <vt:lpstr>Arial</vt:lpstr>
      <vt:lpstr>Menlo</vt:lpstr>
      <vt:lpstr>Simple Light</vt:lpstr>
      <vt:lpstr>Data Analytics</vt:lpstr>
      <vt:lpstr>Why did I choose this project?  </vt:lpstr>
      <vt:lpstr>Project structure </vt:lpstr>
      <vt:lpstr>Project structure </vt:lpstr>
      <vt:lpstr>Project structure </vt:lpstr>
      <vt:lpstr>Project structure </vt:lpstr>
      <vt:lpstr>Project structure </vt:lpstr>
      <vt:lpstr>PowerPoint Presentation</vt:lpstr>
      <vt:lpstr>Project result</vt:lpstr>
      <vt:lpstr>Difficulties and roadblocks </vt:lpstr>
      <vt:lpstr>Conclusions </vt:lpstr>
      <vt:lpstr>Thanks a lot!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 CRM banking</dc:title>
  <cp:lastModifiedBy>Dmytro I.</cp:lastModifiedBy>
  <cp:revision>57</cp:revision>
  <dcterms:modified xsi:type="dcterms:W3CDTF">2025-12-02T22:23:58Z</dcterms:modified>
</cp:coreProperties>
</file>