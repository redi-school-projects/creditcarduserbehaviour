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9"/>
  </p:notesMasterIdLst>
  <p:sldIdLst>
    <p:sldId id="273" r:id="rId2"/>
    <p:sldId id="318" r:id="rId3"/>
    <p:sldId id="268" r:id="rId4"/>
    <p:sldId id="269" r:id="rId5"/>
    <p:sldId id="270" r:id="rId6"/>
    <p:sldId id="271" r:id="rId7"/>
    <p:sldId id="297" r:id="rId8"/>
  </p:sldIdLst>
  <p:sldSz cx="9144000" cy="5143500" type="screen16x9"/>
  <p:notesSz cx="6858000" cy="9144000"/>
  <p:embeddedFontLst>
    <p:embeddedFont>
      <p:font typeface="Assistant" pitchFamily="2" charset="-79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39"/>
    <p:restoredTop sz="82410"/>
  </p:normalViewPr>
  <p:slideViewPr>
    <p:cSldViewPr snapToGrid="0">
      <p:cViewPr varScale="1">
        <p:scale>
          <a:sx n="199" d="100"/>
          <a:sy n="199" d="100"/>
        </p:scale>
        <p:origin x="11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b56d264711_0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b56d264711_0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D74FB0C1-2043-E6E9-27C7-2613F1851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111F1311-F4F2-A8FB-DDD9-BBB099B6F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CAF56DEA-A828-BEB0-DD6B-0DFE027AB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Why you chose this project/idea/dataset?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This project </a:t>
            </a:r>
            <a:r>
              <a:rPr lang="en-GB" dirty="0" err="1"/>
              <a:t>analyzes</a:t>
            </a:r>
            <a:r>
              <a:rPr lang="en-GB" dirty="0"/>
              <a:t> customer attrition in the credit card sector using the “Credit Card User Behaviour Dataset”.</a:t>
            </a:r>
            <a:br>
              <a:rPr lang="en-GB" dirty="0"/>
            </a:br>
            <a:r>
              <a:rPr lang="en-GB" dirty="0"/>
              <a:t>The main objective is to understand which demographic, </a:t>
            </a:r>
            <a:r>
              <a:rPr lang="en-GB" dirty="0" err="1"/>
              <a:t>behavioral</a:t>
            </a:r>
            <a:r>
              <a:rPr lang="en-GB" dirty="0"/>
              <a:t>, and financial factors contribute most strongly to customer churn.</a:t>
            </a:r>
            <a:br>
              <a:rPr lang="en-GB" dirty="0"/>
            </a:br>
            <a:r>
              <a:rPr lang="en-GB" dirty="0"/>
              <a:t>The dataset contains over 10,000 credit card users with detailed information on their spending patterns and account characteristics.</a:t>
            </a:r>
            <a:br>
              <a:rPr lang="en-GB" dirty="0"/>
            </a:br>
            <a:r>
              <a:rPr lang="en-GB" dirty="0"/>
              <a:t>By examining these patterns, the project aims to identify high-risk customer groups and provide insights that could help financial institutions improve retention strategies.</a:t>
            </a:r>
          </a:p>
        </p:txBody>
      </p:sp>
    </p:spTree>
    <p:extLst>
      <p:ext uri="{BB962C8B-B14F-4D97-AF65-F5344CB8AC3E}">
        <p14:creationId xmlns:p14="http://schemas.microsoft.com/office/powerpoint/2010/main" val="84537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EADD7C66-9F07-7DD8-1735-79B8BEF7D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4DCF9E92-824A-CB01-64C2-852C576EE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BE25026C-F433-36FB-6A2E-29260F53DE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What did you do? What was the process you followed?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Cleaned and </a:t>
            </a:r>
            <a:r>
              <a:rPr lang="en-GB" dirty="0" err="1"/>
              <a:t>preprocessed</a:t>
            </a:r>
            <a:r>
              <a:rPr lang="en-GB" dirty="0"/>
              <a:t> data: handled missing values, encoded categorical features, checked for outliers.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Performed EDA: descriptive statistics, visualizations (age distribution, transaction </a:t>
            </a:r>
            <a:r>
              <a:rPr lang="en-GB" dirty="0" err="1"/>
              <a:t>behavior</a:t>
            </a:r>
            <a:r>
              <a:rPr lang="en-GB" dirty="0"/>
              <a:t>, utilization, correlations).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Analyzed</a:t>
            </a:r>
            <a:r>
              <a:rPr lang="en-GB" dirty="0"/>
              <a:t> patterns influencing churn and identified key predictors.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Considered ethical implications and dataset limitations throughout the process.</a:t>
            </a:r>
          </a:p>
        </p:txBody>
      </p:sp>
    </p:spTree>
    <p:extLst>
      <p:ext uri="{BB962C8B-B14F-4D97-AF65-F5344CB8AC3E}">
        <p14:creationId xmlns:p14="http://schemas.microsoft.com/office/powerpoint/2010/main" val="1573615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84149DE9-41E5-4975-FA03-5B8404BD7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24A56994-1CB8-2B2A-C693-D9242451A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491635AD-E89D-40E5-35D3-ABF4E7939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What is the result of your project? What is the impact? What are the real world implications?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Found that churn correlates strongly with transaction activity and utilization ratio.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Identified high-risk customers who are less active or underutilizing credit.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Provides actionable insights for banks: targeted retention campaigns, personalized engagement.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Highlights importance of monitoring low-activity customers to reduce revenue loss.</a:t>
            </a:r>
          </a:p>
        </p:txBody>
      </p:sp>
    </p:spTree>
    <p:extLst>
      <p:ext uri="{BB962C8B-B14F-4D97-AF65-F5344CB8AC3E}">
        <p14:creationId xmlns:p14="http://schemas.microsoft.com/office/powerpoint/2010/main" val="3611659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7BE3BC4A-7F14-2645-55D4-3ABD5759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5FD55A7A-BEC3-17B3-195F-D9C690E26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5AC5B900-DA6F-9A78-F01C-5A65359AC8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Did you face any difficulties or roadblock? How did you overcome them?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Dataset was mostly clean → needed to justify preprocessing steps carefully.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Categorical features had potential order ambiguity → resolved using ordinal encoding for </a:t>
            </a:r>
            <a:r>
              <a:rPr lang="en-GB" dirty="0" err="1"/>
              <a:t>Education_Level</a:t>
            </a:r>
            <a:r>
              <a:rPr lang="en-GB" dirty="0"/>
              <a:t> and </a:t>
            </a:r>
            <a:r>
              <a:rPr lang="en-GB" dirty="0" err="1"/>
              <a:t>Income_Category</a:t>
            </a:r>
            <a:r>
              <a:rPr lang="en-GB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Class imbalance (~16% churn) → noted in limitations, suggested stratified sampling and evaluation metrics like ROC-AUC.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Addressed each challenge with methodical, well-documented steps.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9745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0B20A677-F0D1-A9DD-DC56-C62D37176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09E304E5-F5D2-CDE7-1009-33E6C568A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4BB35EF6-4234-E2EA-46ED-01C589913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Conclusions: What are some future improvements? How could the project be used?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Include additional features: transaction trends over time, external </a:t>
            </a:r>
            <a:r>
              <a:rPr lang="en-GB" dirty="0" err="1"/>
              <a:t>behavioral</a:t>
            </a:r>
            <a:r>
              <a:rPr lang="en-GB" dirty="0"/>
              <a:t> data, communication history.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Experiment with advanced predictive models (</a:t>
            </a:r>
            <a:r>
              <a:rPr lang="en-GB" dirty="0" err="1"/>
              <a:t>RandomForest</a:t>
            </a:r>
            <a:r>
              <a:rPr lang="en-GB" dirty="0"/>
              <a:t>, </a:t>
            </a:r>
            <a:r>
              <a:rPr lang="en-GB" dirty="0" err="1"/>
              <a:t>XGBoost</a:t>
            </a:r>
            <a:r>
              <a:rPr lang="en-GB" dirty="0"/>
              <a:t>) and handle class imbalance.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Integrate model in banking dashboards for real-time churn risk monitoring.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Apply fairness and privacy-aware techniques for ethical, responsible deployment.</a:t>
            </a:r>
          </a:p>
        </p:txBody>
      </p:sp>
    </p:spTree>
    <p:extLst>
      <p:ext uri="{BB962C8B-B14F-4D97-AF65-F5344CB8AC3E}">
        <p14:creationId xmlns:p14="http://schemas.microsoft.com/office/powerpoint/2010/main" val="13919708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311725" y="3019874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0" y="1243584"/>
            <a:ext cx="128100" cy="256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3" name="Google Shape;33;p3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sp>
        <p:nvSpPr>
          <p:cNvPr id="35" name="Google Shape;35;p3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36;p3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37" name="Google Shape;37;p3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8" name="Google Shape;38;p3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bg>
      <p:bgPr>
        <a:noFill/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>
            <a:off x="7000" y="4663200"/>
            <a:ext cx="9144000" cy="49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5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5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title"/>
          </p:nvPr>
        </p:nvSpPr>
        <p:spPr>
          <a:xfrm>
            <a:off x="311700" y="214884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dnytsyk@gmail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9838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Analytics</a:t>
            </a:r>
          </a:p>
        </p:txBody>
      </p:sp>
      <p:sp>
        <p:nvSpPr>
          <p:cNvPr id="411" name="Google Shape;411;p38"/>
          <p:cNvSpPr txBox="1">
            <a:spLocks noGrp="1"/>
          </p:cNvSpPr>
          <p:nvPr>
            <p:ph type="subTitle" idx="1"/>
          </p:nvPr>
        </p:nvSpPr>
        <p:spPr>
          <a:xfrm>
            <a:off x="311725" y="2473569"/>
            <a:ext cx="6089100" cy="13389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Final project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Credit Card User Behaviour</a:t>
            </a:r>
            <a:endParaRPr dirty="0"/>
          </a:p>
        </p:txBody>
      </p:sp>
      <p:sp>
        <p:nvSpPr>
          <p:cNvPr id="412" name="Google Shape;412;p38"/>
          <p:cNvSpPr txBox="1"/>
          <p:nvPr/>
        </p:nvSpPr>
        <p:spPr>
          <a:xfrm>
            <a:off x="311687" y="4072325"/>
            <a:ext cx="2953800" cy="763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chemeClr val="accent1"/>
                </a:solidFill>
              </a:rPr>
              <a:t>Dmytro </a:t>
            </a:r>
            <a:r>
              <a:rPr lang="en-GB" sz="1000" b="1" dirty="0" err="1">
                <a:solidFill>
                  <a:schemeClr val="accent1"/>
                </a:solidFill>
              </a:rPr>
              <a:t>Ivashchenko</a:t>
            </a: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chemeClr val="accent1"/>
                </a:solidFill>
              </a:rPr>
              <a:t>Munich 2025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endParaRPr lang="en-US" sz="1000" b="1" dirty="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13" name="Google Shape;413;p3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97F17092-3506-E219-3E6C-EE0A5C22A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B559EB3C-C470-2E4B-F99A-627C53EEEB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019461D6-9DA8-78F0-05FD-EB7EAC13FA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BAFFDEFA-71C1-CC26-44CD-7196BB4B45A0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FC6B287B-AD4C-82A5-BDD7-28A8DEB330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5914" y="597447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800" dirty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Why did I choose this project?</a:t>
            </a:r>
            <a:br>
              <a:rPr lang="en" sz="1100" b="0" dirty="0">
                <a:latin typeface="Arial"/>
                <a:ea typeface="Arial"/>
                <a:cs typeface="Arial"/>
                <a:sym typeface="Arial"/>
              </a:rPr>
            </a:br>
            <a:br>
              <a:rPr lang="en" sz="1100" b="0" dirty="0">
                <a:latin typeface="Arial"/>
                <a:ea typeface="Arial"/>
                <a:cs typeface="Arial"/>
                <a:sym typeface="Arial"/>
              </a:rPr>
            </a:br>
            <a:endParaRPr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55EDD639-CDC1-9907-D6F3-7C9D9D026A6D}"/>
              </a:ext>
            </a:extLst>
          </p:cNvPr>
          <p:cNvSpPr txBox="1"/>
          <p:nvPr/>
        </p:nvSpPr>
        <p:spPr>
          <a:xfrm>
            <a:off x="726831" y="1186647"/>
            <a:ext cx="7209692" cy="2646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Churn prediction in banking is a real-world problem impacting revenue.</a:t>
            </a:r>
          </a:p>
          <a:p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Combines domain knowledge from banking with practical data analysis skills.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Dataset has rich customer info: demographics, transaction history, credit limits.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Project allows exploration of preprocessing, feature engineering, visualization, and predictive modelling.</a:t>
            </a:r>
          </a:p>
        </p:txBody>
      </p:sp>
    </p:spTree>
    <p:extLst>
      <p:ext uri="{BB962C8B-B14F-4D97-AF65-F5344CB8AC3E}">
        <p14:creationId xmlns:p14="http://schemas.microsoft.com/office/powerpoint/2010/main" val="953823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E5E5380F-3EC6-07F2-4AFE-C0C53BE06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D0BA4A06-CB97-D517-69E2-DC7D8AAA87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FB74831E-27A4-1895-45EE-55911B26BC3D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CA30B7C4-82DA-F03A-E9C0-9EE14247EC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81244" y="577144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>
                <a:solidFill>
                  <a:schemeClr val="accent1"/>
                </a:solidFill>
                <a:latin typeface="+mn-lt"/>
                <a:cs typeface="Assistant" pitchFamily="2" charset="-79"/>
              </a:rPr>
              <a:t>Project structure</a:t>
            </a:r>
            <a:endParaRPr sz="139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EB6282E3-BE94-D90B-2236-05C5D09A9028}"/>
              </a:ext>
            </a:extLst>
          </p:cNvPr>
          <p:cNvSpPr txBox="1"/>
          <p:nvPr/>
        </p:nvSpPr>
        <p:spPr>
          <a:xfrm>
            <a:off x="802230" y="1021392"/>
            <a:ext cx="5991762" cy="332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1600" dirty="0">
                <a:solidFill>
                  <a:schemeClr val="tx1"/>
                </a:solidFill>
                <a:latin typeface="+mn-lt"/>
              </a:rPr>
              <a:t>1. </a:t>
            </a:r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Problem Statement and Dataset Selection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2. </a:t>
            </a:r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Data Cleaning &amp; Preprocessing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Data Loading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Data Type Conversion</a:t>
            </a:r>
            <a:endParaRPr lang="en-GB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Outlier Treatment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Working with Categorical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Feature Engineering</a:t>
            </a:r>
            <a:endParaRPr lang="en-GB" dirty="0">
              <a:solidFill>
                <a:schemeClr val="tx1"/>
              </a:solidFill>
              <a:latin typeface="+mn-lt"/>
            </a:endParaRPr>
          </a:p>
          <a:p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3. Exploratory Data Analysis (EDA)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General understanding of the data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Statistics on key features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Visualizations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Interpretation of identified patterns</a:t>
            </a:r>
            <a:endParaRPr lang="ru-RU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4. Ethical Considerations &amp; Limitations</a:t>
            </a:r>
          </a:p>
        </p:txBody>
      </p:sp>
      <p:pic>
        <p:nvPicPr>
          <p:cNvPr id="2" name="Google Shape;342;p31">
            <a:extLst>
              <a:ext uri="{FF2B5EF4-FFF2-40B4-BE49-F238E27FC236}">
                <a16:creationId xmlns:a16="http://schemas.microsoft.com/office/drawing/2014/main" id="{310DB476-F495-137D-83F4-4D7C10BAFC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21238" y="2775749"/>
            <a:ext cx="1811075" cy="19227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817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698AE390-DF3E-BD1E-03AD-B7793A840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8355B984-AC56-8ADE-7A5C-29CE7EDB3A8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1F212565-937C-F2DD-2BA8-371AD500B22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ED25E503-E880-9022-7DD0-633D0F1839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86761" y="586659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>
                <a:solidFill>
                  <a:schemeClr val="accent1"/>
                </a:solidFill>
                <a:effectLst/>
                <a:latin typeface="Assistant" pitchFamily="2" charset="-79"/>
                <a:cs typeface="Assistant" pitchFamily="2" charset="-79"/>
              </a:rPr>
              <a:t>Project result</a:t>
            </a:r>
            <a:endParaRPr sz="1200" dirty="0">
              <a:solidFill>
                <a:schemeClr val="accent1"/>
              </a:solidFill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F072D9B1-832A-12E3-2AE4-F719C640EBD1}"/>
              </a:ext>
            </a:extLst>
          </p:cNvPr>
          <p:cNvSpPr txBox="1"/>
          <p:nvPr/>
        </p:nvSpPr>
        <p:spPr>
          <a:xfrm>
            <a:off x="535513" y="1371436"/>
            <a:ext cx="7684943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Found that churn correlates strongly with transaction activity and utilization ratio.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Identified high-risk customers who are less active or underutilizing credit.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Provides actionable insights for banks: targeted retention campaigns, personalized engagement.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Highlights importance of monitoring low-activity customers to reduce revenue loss.</a:t>
            </a:r>
          </a:p>
        </p:txBody>
      </p:sp>
    </p:spTree>
    <p:extLst>
      <p:ext uri="{BB962C8B-B14F-4D97-AF65-F5344CB8AC3E}">
        <p14:creationId xmlns:p14="http://schemas.microsoft.com/office/powerpoint/2010/main" val="4163687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A6C1ECF0-A37B-5513-EE3F-5213A70E7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C6CB3D83-617F-8F69-D801-C1EF96DF61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077EBC09-7448-454B-9208-D7761319F832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9E996814-FBD8-32A7-7AB9-E22AC38B74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15595" y="552518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b="1" dirty="0">
                <a:solidFill>
                  <a:schemeClr val="accent1"/>
                </a:solidFill>
                <a:effectLst/>
                <a:latin typeface="Assistant" pitchFamily="2" charset="-79"/>
                <a:cs typeface="Assistant" pitchFamily="2" charset="-79"/>
              </a:rPr>
              <a:t>Difficulties and roadblocks</a:t>
            </a:r>
            <a:endParaRPr lang="en-GB" sz="1800" dirty="0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lang="en-GB"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D00C1BDB-C392-F469-40E5-3C1F94F2772E}"/>
              </a:ext>
            </a:extLst>
          </p:cNvPr>
          <p:cNvSpPr txBox="1"/>
          <p:nvPr/>
        </p:nvSpPr>
        <p:spPr>
          <a:xfrm>
            <a:off x="517372" y="1289635"/>
            <a:ext cx="76890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Dataset was mostly clean → needed to justify preprocessing steps carefully.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Categorical features had potential order ambiguity → resolved using ordinal encoding for </a:t>
            </a:r>
            <a:r>
              <a:rPr lang="en-GB" sz="1600" dirty="0" err="1"/>
              <a:t>Education_Level</a:t>
            </a:r>
            <a:r>
              <a:rPr lang="en-GB" sz="1600" dirty="0"/>
              <a:t> and </a:t>
            </a:r>
            <a:r>
              <a:rPr lang="en-GB" sz="1600" dirty="0" err="1"/>
              <a:t>Income_Category</a:t>
            </a:r>
            <a:r>
              <a:rPr lang="en-GB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Class imbalance (~16% churn) → noted in limitations, suggested stratified sampling and evaluation metrics like ROC-AUC.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Addressed each challenge with methodical, well-documented steps.</a:t>
            </a:r>
          </a:p>
        </p:txBody>
      </p:sp>
      <p:pic>
        <p:nvPicPr>
          <p:cNvPr id="2" name="Google Shape;340;p31">
            <a:extLst>
              <a:ext uri="{FF2B5EF4-FFF2-40B4-BE49-F238E27FC236}">
                <a16:creationId xmlns:a16="http://schemas.microsoft.com/office/drawing/2014/main" id="{4E61053A-00E9-8118-EE7E-081D4B13C91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43320" y="3648782"/>
            <a:ext cx="1083308" cy="972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1113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DA527363-3B3D-3DDA-32A4-70AB8AADF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D6345F0B-9F91-20B9-D6D1-C50CAFA409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146" name="Google Shape;146;p22">
            <a:extLst>
              <a:ext uri="{FF2B5EF4-FFF2-40B4-BE49-F238E27FC236}">
                <a16:creationId xmlns:a16="http://schemas.microsoft.com/office/drawing/2014/main" id="{BC956100-D120-6E5A-F315-1A9E639F8DE4}"/>
              </a:ext>
            </a:extLst>
          </p:cNvPr>
          <p:cNvSpPr txBox="1"/>
          <p:nvPr/>
        </p:nvSpPr>
        <p:spPr>
          <a:xfrm>
            <a:off x="1084875" y="3356675"/>
            <a:ext cx="58224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98B9F25F-8F78-70E2-7ACE-AA1DC388FFF2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0E3A5CC5-1DD4-6521-3903-2BDA37CE52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05633" y="548275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b="1" dirty="0">
                <a:solidFill>
                  <a:schemeClr val="accent1"/>
                </a:solidFill>
                <a:effectLst/>
                <a:latin typeface="Assistant" pitchFamily="2" charset="-79"/>
                <a:cs typeface="Assistant" pitchFamily="2" charset="-79"/>
              </a:rPr>
              <a:t>Conclusions</a:t>
            </a:r>
            <a:endParaRPr lang="en-GB" sz="1390" dirty="0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lang="en-GB"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B590C0AE-B753-1BC3-66FA-3723E45E43D1}"/>
              </a:ext>
            </a:extLst>
          </p:cNvPr>
          <p:cNvSpPr txBox="1"/>
          <p:nvPr/>
        </p:nvSpPr>
        <p:spPr>
          <a:xfrm>
            <a:off x="727500" y="1129975"/>
            <a:ext cx="7689000" cy="2646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Include additional features: transaction trends over time, external </a:t>
            </a:r>
            <a:r>
              <a:rPr lang="en-GB" sz="1600" dirty="0" err="1"/>
              <a:t>behavioral</a:t>
            </a:r>
            <a:r>
              <a:rPr lang="en-GB" sz="1600" dirty="0"/>
              <a:t> data, communication history.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Experiment with advanced predictive models (</a:t>
            </a:r>
            <a:r>
              <a:rPr lang="en-GB" sz="1600" dirty="0" err="1"/>
              <a:t>RandomForest</a:t>
            </a:r>
            <a:r>
              <a:rPr lang="en-GB" sz="1600" dirty="0"/>
              <a:t>, </a:t>
            </a:r>
            <a:r>
              <a:rPr lang="en-GB" sz="1600" dirty="0" err="1"/>
              <a:t>XGBoost</a:t>
            </a:r>
            <a:r>
              <a:rPr lang="en-GB" sz="1600" dirty="0"/>
              <a:t>) and handle class imbalance.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Integrate model in banking dashboards for real-time churn risk monitoring.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Apply fairness and privacy-aware techniques for ethical, responsible deployment.</a:t>
            </a:r>
          </a:p>
        </p:txBody>
      </p:sp>
      <p:pic>
        <p:nvPicPr>
          <p:cNvPr id="2" name="Google Shape;338;p31">
            <a:extLst>
              <a:ext uri="{FF2B5EF4-FFF2-40B4-BE49-F238E27FC236}">
                <a16:creationId xmlns:a16="http://schemas.microsoft.com/office/drawing/2014/main" id="{4F70190C-0FA6-7452-269B-064E960983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8424" y="3051950"/>
            <a:ext cx="1580118" cy="16775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77299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6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660" name="Google Shape;660;p62"/>
          <p:cNvSpPr txBox="1">
            <a:spLocks noGrp="1"/>
          </p:cNvSpPr>
          <p:nvPr>
            <p:ph type="body" idx="4294967295"/>
          </p:nvPr>
        </p:nvSpPr>
        <p:spPr>
          <a:xfrm>
            <a:off x="2558864" y="2760450"/>
            <a:ext cx="5767500" cy="14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Contact</a:t>
            </a:r>
            <a:endParaRPr sz="1400" b="1" dirty="0"/>
          </a:p>
          <a:p>
            <a:pPr marL="0" indent="0">
              <a:spcBef>
                <a:spcPts val="1000"/>
              </a:spcBef>
              <a:buNone/>
            </a:pPr>
            <a:r>
              <a:rPr lang="en-US" sz="1400" dirty="0"/>
              <a:t>Dmytro </a:t>
            </a:r>
            <a:r>
              <a:rPr lang="en-US" sz="1400" dirty="0" err="1"/>
              <a:t>Ivashchenko</a:t>
            </a:r>
            <a:br>
              <a:rPr lang="en" sz="1400" dirty="0"/>
            </a:br>
            <a:r>
              <a:rPr lang="en-GB" sz="1400" dirty="0"/>
              <a:t>Student of Data analytics course</a:t>
            </a:r>
            <a:endParaRPr lang="en" sz="1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400" dirty="0">
                <a:hlinkClick r:id="rId3"/>
              </a:rPr>
              <a:t>dnytsyk@gmail.com</a:t>
            </a:r>
            <a:endParaRPr lang="en" sz="1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" sz="1400" dirty="0"/>
          </a:p>
        </p:txBody>
      </p:sp>
      <p:pic>
        <p:nvPicPr>
          <p:cNvPr id="661" name="Google Shape;661;p62"/>
          <p:cNvPicPr preferRelativeResize="0"/>
          <p:nvPr/>
        </p:nvPicPr>
        <p:blipFill rotWithShape="1">
          <a:blip r:embed="rId4"/>
          <a:srcRect l="10000" t="8928" r="18571" b="46429"/>
          <a:stretch/>
        </p:blipFill>
        <p:spPr>
          <a:xfrm>
            <a:off x="428450" y="2588400"/>
            <a:ext cx="1800000" cy="18000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62" name="Google Shape;662;p6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 a lot!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2916</TotalTime>
  <Words>701</Words>
  <Application>Microsoft Macintosh PowerPoint</Application>
  <PresentationFormat>On-screen Show (16:9)</PresentationFormat>
  <Paragraphs>92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Assistant</vt:lpstr>
      <vt:lpstr>Simple Light</vt:lpstr>
      <vt:lpstr>Data Analytics</vt:lpstr>
      <vt:lpstr>Why did I choose this project?  </vt:lpstr>
      <vt:lpstr>Project structure </vt:lpstr>
      <vt:lpstr>Project result</vt:lpstr>
      <vt:lpstr>Difficulties and roadblocks </vt:lpstr>
      <vt:lpstr>Conclusions </vt:lpstr>
      <vt:lpstr>Thanks a lot!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 CRM banking</dc:title>
  <cp:lastModifiedBy>Dmytro I.</cp:lastModifiedBy>
  <cp:revision>49</cp:revision>
  <dcterms:modified xsi:type="dcterms:W3CDTF">2025-11-30T23:37:23Z</dcterms:modified>
</cp:coreProperties>
</file>